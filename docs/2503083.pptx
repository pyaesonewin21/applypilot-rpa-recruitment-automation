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 r:id="rId5"/>
    <p:sldId id="261" r:id="rId6"/>
    <p:sldId id="276" r:id="rId7"/>
    <p:sldId id="258" r:id="rId8"/>
    <p:sldId id="259" r:id="rId9"/>
    <p:sldId id="277" r:id="rId10"/>
    <p:sldId id="278" r:id="rId11"/>
    <p:sldId id="279" r:id="rId12"/>
    <p:sldId id="280" r:id="rId13"/>
    <p:sldId id="274"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1CDC27-C62D-1EFD-520A-E66E905EDA5C}" name="Josh Yan LIAO (TP)" initials="JYL(" userId="S::joshyan@tp.edu.sg::34d2b495-187b-482c-9c38-d8f66a623d97" providerId="AD"/>
  <p188:author id="{6B0CF745-7F3E-21BD-91D1-F94DD3EB8481}" name="Chaw Poh CHIA (TP)" initials="CC" userId="S::cpchia@tp.edu.sg::7420a7be-4c5b-4588-aaec-7b5525320687" providerId="AD"/>
  <p188:author id="{4595C397-F992-4D59-00DF-77DC5F278A5B}" name="Sio Poh TAN (TP)" initials="ST" userId="S::siopoh@TP.EDU.SG::885feb22-6b5b-41f3-afa3-2d4a0d0c4942" providerId="AD"/>
  <p188:author id="{9FDFECDC-7DC0-64A7-D7A8-6430072BA26E}" name="Andrew CHONG (TP)" initials="AC" userId="S::chongkt@TP.EDU.SG::d8aae822-b943-4f37-9b72-7581d42c47a4" providerId="AD"/>
  <p188:author id="{A643E2DD-6BB2-4C4A-6D1B-9C103A60EE4C}" name="Gordon HOI (TP)" initials="GH" userId="S::gordon@tp.edu.sg::951b617f-e6fd-47f4-a908-ed470453a6b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6B52"/>
    <a:srgbClr val="E5EEE6"/>
    <a:srgbClr val="ECECF1"/>
    <a:srgbClr val="F1E0DC"/>
    <a:srgbClr val="EEEAE4"/>
    <a:srgbClr val="111111"/>
    <a:srgbClr val="F7F5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6886" autoAdjust="0"/>
  </p:normalViewPr>
  <p:slideViewPr>
    <p:cSldViewPr snapToGrid="0">
      <p:cViewPr varScale="1">
        <p:scale>
          <a:sx n="57" d="100"/>
          <a:sy n="57" d="100"/>
        </p:scale>
        <p:origin x="980" y="4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F6BA43-6CAF-4AB8-A0EF-8D394529F19F}"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A59EB3-C834-47C6-B4F1-FB6BE62CE931}" type="slidenum">
              <a:rPr lang="en-US" smtClean="0"/>
              <a:t>‹#›</a:t>
            </a:fld>
            <a:endParaRPr lang="en-US"/>
          </a:p>
        </p:txBody>
      </p:sp>
    </p:spTree>
    <p:extLst>
      <p:ext uri="{BB962C8B-B14F-4D97-AF65-F5344CB8AC3E}">
        <p14:creationId xmlns:p14="http://schemas.microsoft.com/office/powerpoint/2010/main" val="619353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I am going to present my RPA project, called </a:t>
            </a:r>
            <a:r>
              <a:rPr lang="en-US" b="1" dirty="0" err="1"/>
              <a:t>ApplyPilot</a:t>
            </a:r>
            <a:r>
              <a:rPr lang="en-US" dirty="0"/>
              <a:t>.</a:t>
            </a:r>
          </a:p>
          <a:p>
            <a:r>
              <a:rPr lang="en-US" dirty="0" err="1"/>
              <a:t>ApplyPilot</a:t>
            </a:r>
            <a:r>
              <a:rPr lang="en-US" dirty="0"/>
              <a:t> is a recruitment automation robot. It helps recruitment staff process job applications faster and with less repeated manual work.</a:t>
            </a:r>
          </a:p>
          <a:p>
            <a:r>
              <a:rPr lang="en-US" dirty="0"/>
              <a:t>I will first explain the problem, then show how </a:t>
            </a:r>
            <a:r>
              <a:rPr lang="en-US" dirty="0" err="1"/>
              <a:t>ApplyPilot</a:t>
            </a:r>
            <a:r>
              <a:rPr lang="en-US" dirty="0"/>
              <a:t> solves it step by step.</a:t>
            </a:r>
          </a:p>
          <a:p>
            <a:endParaRPr lang="en-US" dirty="0"/>
          </a:p>
        </p:txBody>
      </p:sp>
      <p:sp>
        <p:nvSpPr>
          <p:cNvPr id="4" name="Slide Number Placeholder 3"/>
          <p:cNvSpPr>
            <a:spLocks noGrp="1"/>
          </p:cNvSpPr>
          <p:nvPr>
            <p:ph type="sldNum" sz="quarter" idx="5"/>
          </p:nvPr>
        </p:nvSpPr>
        <p:spPr/>
        <p:txBody>
          <a:bodyPr/>
          <a:lstStyle/>
          <a:p>
            <a:fld id="{E4A59EB3-C834-47C6-B4F1-FB6BE62CE931}" type="slidenum">
              <a:rPr lang="en-US" smtClean="0"/>
              <a:t>1</a:t>
            </a:fld>
            <a:endParaRPr lang="en-US"/>
          </a:p>
        </p:txBody>
      </p:sp>
    </p:spTree>
    <p:extLst>
      <p:ext uri="{BB962C8B-B14F-4D97-AF65-F5344CB8AC3E}">
        <p14:creationId xmlns:p14="http://schemas.microsoft.com/office/powerpoint/2010/main" val="2079772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would like to explain the main problem behind my project.</a:t>
            </a:r>
          </a:p>
          <a:p>
            <a:r>
              <a:rPr lang="en-US" dirty="0"/>
              <a:t>Recruitment staff may receive many applications for technical roles such as Junior Software Engineer. For every applicant, they need to check the email, download and read the résumé, compare important skills, check whether the applicant has applied before, and record the candidate details manually.</a:t>
            </a:r>
          </a:p>
          <a:p>
            <a:r>
              <a:rPr lang="en-US" dirty="0"/>
              <a:t>The main issue is that these same tasks are repeated for every single application. When there are many applicants, this takes a lot of time and can also lead to typing mistakes, missed information, and inconsistent screening.</a:t>
            </a:r>
          </a:p>
          <a:p>
            <a:r>
              <a:rPr lang="en-US" dirty="0"/>
              <a:t>So I created </a:t>
            </a:r>
            <a:r>
              <a:rPr lang="en-US" b="1" dirty="0" err="1"/>
              <a:t>ApplyPilot</a:t>
            </a:r>
            <a:r>
              <a:rPr lang="en-US" dirty="0"/>
              <a:t> to automate these repeated tasks and give the recruiter a more </a:t>
            </a:r>
            <a:r>
              <a:rPr lang="en-US" dirty="0" err="1"/>
              <a:t>organised</a:t>
            </a:r>
            <a:r>
              <a:rPr lang="en-US" dirty="0"/>
              <a:t> and consistent result.</a:t>
            </a:r>
          </a:p>
          <a:p>
            <a:r>
              <a:rPr lang="en-US" dirty="0"/>
              <a:t>Based on these problems, I designed the workflow shown in the next slide.</a:t>
            </a:r>
          </a:p>
          <a:p>
            <a:endParaRPr lang="en-US" dirty="0"/>
          </a:p>
        </p:txBody>
      </p:sp>
      <p:sp>
        <p:nvSpPr>
          <p:cNvPr id="4" name="Slide Number Placeholder 3"/>
          <p:cNvSpPr>
            <a:spLocks noGrp="1"/>
          </p:cNvSpPr>
          <p:nvPr>
            <p:ph type="sldNum" sz="quarter" idx="5"/>
          </p:nvPr>
        </p:nvSpPr>
        <p:spPr/>
        <p:txBody>
          <a:bodyPr/>
          <a:lstStyle/>
          <a:p>
            <a:fld id="{E4A59EB3-C834-47C6-B4F1-FB6BE62CE931}" type="slidenum">
              <a:rPr lang="en-US" smtClean="0"/>
              <a:t>2</a:t>
            </a:fld>
            <a:endParaRPr lang="en-US"/>
          </a:p>
        </p:txBody>
      </p:sp>
    </p:spTree>
    <p:extLst>
      <p:ext uri="{BB962C8B-B14F-4D97-AF65-F5344CB8AC3E}">
        <p14:creationId xmlns:p14="http://schemas.microsoft.com/office/powerpoint/2010/main" val="1108510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problem I explained earlier, I designed </a:t>
            </a:r>
            <a:r>
              <a:rPr lang="en-US" dirty="0" err="1"/>
              <a:t>ApplyPilot</a:t>
            </a:r>
            <a:r>
              <a:rPr lang="en-US" dirty="0"/>
              <a:t> as a five-stage process.</a:t>
            </a:r>
          </a:p>
          <a:p>
            <a:r>
              <a:rPr lang="en-US" dirty="0"/>
              <a:t>It starts by collecting applications from Gmail, then reads the résumé using PDF extraction or OCR. After that, Python scores the candidate, MySQL checks and stores the result, and finally Excel creates the ranked report.</a:t>
            </a:r>
          </a:p>
          <a:p>
            <a:r>
              <a:rPr lang="en-US" dirty="0"/>
              <a:t>So this slide shows how the whole process connects from the application email to the final result.</a:t>
            </a:r>
          </a:p>
          <a:p>
            <a:r>
              <a:rPr lang="en-US" dirty="0"/>
              <a:t>I will now explain each part in more detail.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main UiPath packages I used in </a:t>
            </a:r>
            <a:r>
              <a:rPr lang="en-US" dirty="0" err="1"/>
              <a:t>ApplyPilot</a:t>
            </a:r>
            <a:r>
              <a:rPr lang="en-US" dirty="0"/>
              <a:t>.</a:t>
            </a:r>
          </a:p>
          <a:p>
            <a:r>
              <a:rPr lang="en-US" dirty="0"/>
              <a:t>For Gmail, I use the </a:t>
            </a:r>
            <a:r>
              <a:rPr lang="en-US" b="1" dirty="0" err="1"/>
              <a:t>GSuite</a:t>
            </a:r>
            <a:r>
              <a:rPr lang="en-US" b="1" dirty="0"/>
              <a:t> package</a:t>
            </a:r>
            <a:r>
              <a:rPr lang="en-US" dirty="0"/>
              <a:t>, with activities such as </a:t>
            </a:r>
            <a:r>
              <a:rPr lang="en-US" b="1" dirty="0"/>
              <a:t>Google Workspace Scope, Get Mail Messages, Download Email Attachments, and Mark Email as Read or Unread</a:t>
            </a:r>
            <a:r>
              <a:rPr lang="en-US" dirty="0"/>
              <a:t>. The </a:t>
            </a:r>
            <a:r>
              <a:rPr lang="en-US" b="1" dirty="0"/>
              <a:t>Integration Service package</a:t>
            </a:r>
            <a:r>
              <a:rPr lang="en-US" dirty="0"/>
              <a:t> supports the Google Workspace connection.</a:t>
            </a:r>
          </a:p>
          <a:p>
            <a:r>
              <a:rPr lang="en-US" dirty="0"/>
              <a:t>For résumé reading, I use the </a:t>
            </a:r>
            <a:r>
              <a:rPr lang="en-US" b="1" dirty="0"/>
              <a:t>PDF package</a:t>
            </a:r>
            <a:r>
              <a:rPr lang="en-US" dirty="0"/>
              <a:t> for </a:t>
            </a:r>
            <a:r>
              <a:rPr lang="en-US" b="1" dirty="0"/>
              <a:t>Read PDF Text</a:t>
            </a:r>
            <a:r>
              <a:rPr lang="en-US" dirty="0"/>
              <a:t>, and the </a:t>
            </a:r>
            <a:r>
              <a:rPr lang="en-US" b="1" dirty="0"/>
              <a:t>OCR package</a:t>
            </a:r>
            <a:r>
              <a:rPr lang="en-US" dirty="0"/>
              <a:t> for scanned PDFs and image files.</a:t>
            </a:r>
          </a:p>
          <a:p>
            <a:r>
              <a:rPr lang="en-US" dirty="0"/>
              <a:t>For MySQL, I use the </a:t>
            </a:r>
            <a:r>
              <a:rPr lang="en-US" b="1" dirty="0"/>
              <a:t>Database package</a:t>
            </a:r>
            <a:r>
              <a:rPr lang="en-US" dirty="0"/>
              <a:t> for activities such as </a:t>
            </a:r>
            <a:r>
              <a:rPr lang="en-US" b="1" dirty="0"/>
              <a:t>Connect to Database, Run Query, and inserting new applicant records</a:t>
            </a:r>
            <a:r>
              <a:rPr lang="en-US" dirty="0"/>
              <a:t>.</a:t>
            </a:r>
          </a:p>
          <a:p>
            <a:r>
              <a:rPr lang="en-US" dirty="0"/>
              <a:t>For the final report, I use the </a:t>
            </a:r>
            <a:r>
              <a:rPr lang="en-US" b="1" dirty="0"/>
              <a:t>Excel package</a:t>
            </a:r>
            <a:r>
              <a:rPr lang="en-US" dirty="0"/>
              <a:t>, mainly to write the sorted candidate results into the workbook.</a:t>
            </a:r>
          </a:p>
          <a:p>
            <a:r>
              <a:rPr lang="en-US" dirty="0"/>
              <a:t>Finally, the </a:t>
            </a:r>
            <a:r>
              <a:rPr lang="en-US" b="1" dirty="0"/>
              <a:t>System package</a:t>
            </a:r>
            <a:r>
              <a:rPr lang="en-US" dirty="0"/>
              <a:t> supports the main workflow logic, such as </a:t>
            </a:r>
            <a:r>
              <a:rPr lang="en-US" b="1" dirty="0"/>
              <a:t>If, Assign, Try Catch, logging, and Move File</a:t>
            </a:r>
            <a:r>
              <a:rPr lang="en-US" dirty="0"/>
              <a:t>.</a:t>
            </a:r>
          </a:p>
          <a:p>
            <a:r>
              <a:rPr lang="en-US" dirty="0"/>
              <a:t>So each package supports a specific part of the </a:t>
            </a:r>
            <a:r>
              <a:rPr lang="en-US" dirty="0" err="1"/>
              <a:t>ApplyPilot</a:t>
            </a:r>
            <a:r>
              <a:rPr lang="en-US" dirty="0"/>
              <a:t> process, and the next slide starts with the Gmail collection stage.</a:t>
            </a:r>
          </a:p>
          <a:p>
            <a:endParaRPr lang="en-US" dirty="0"/>
          </a:p>
        </p:txBody>
      </p:sp>
      <p:sp>
        <p:nvSpPr>
          <p:cNvPr id="4" name="Slide Number Placeholder 3"/>
          <p:cNvSpPr>
            <a:spLocks noGrp="1"/>
          </p:cNvSpPr>
          <p:nvPr>
            <p:ph type="sldNum" sz="quarter" idx="5"/>
          </p:nvPr>
        </p:nvSpPr>
        <p:spPr/>
        <p:txBody>
          <a:bodyPr/>
          <a:lstStyle/>
          <a:p>
            <a:fld id="{E4A59EB3-C834-47C6-B4F1-FB6BE62CE931}" type="slidenum">
              <a:rPr lang="en-US" smtClean="0"/>
              <a:t>4</a:t>
            </a:fld>
            <a:endParaRPr lang="en-US"/>
          </a:p>
        </p:txBody>
      </p:sp>
    </p:spTree>
    <p:extLst>
      <p:ext uri="{BB962C8B-B14F-4D97-AF65-F5344CB8AC3E}">
        <p14:creationId xmlns:p14="http://schemas.microsoft.com/office/powerpoint/2010/main" val="2010400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pain point is checking application emails manually.</a:t>
            </a:r>
          </a:p>
          <a:p>
            <a:r>
              <a:rPr lang="en-US" dirty="0"/>
              <a:t>If many applications arrive, the recruiter has to keep opening emails and downloading attachments one by one.</a:t>
            </a:r>
          </a:p>
          <a:p>
            <a:r>
              <a:rPr lang="en-US" dirty="0" err="1"/>
              <a:t>ApplyPilot</a:t>
            </a:r>
            <a:r>
              <a:rPr lang="en-US" dirty="0"/>
              <a:t> solves this by using </a:t>
            </a:r>
            <a:r>
              <a:rPr lang="en-US" b="1" dirty="0"/>
              <a:t>Google Workspace Scope and Get Mail Messages</a:t>
            </a:r>
            <a:r>
              <a:rPr lang="en-US" dirty="0"/>
              <a:t> to find unread application emails with keywords such as resume, job application, or junior software engineer.</a:t>
            </a:r>
          </a:p>
          <a:p>
            <a:r>
              <a:rPr lang="en-US" dirty="0"/>
              <a:t>For each matching email, the robot downloads only supported résumé files and then marks the email as read.</a:t>
            </a:r>
          </a:p>
          <a:p>
            <a:r>
              <a:rPr lang="en-US" dirty="0"/>
              <a:t>This reduces repeated inbox checking and also prevents the same email from being processed again.</a:t>
            </a:r>
          </a:p>
          <a:p>
            <a:endParaRPr lang="en-US" dirty="0"/>
          </a:p>
        </p:txBody>
      </p:sp>
      <p:sp>
        <p:nvSpPr>
          <p:cNvPr id="4" name="Slide Number Placeholder 3"/>
          <p:cNvSpPr>
            <a:spLocks noGrp="1"/>
          </p:cNvSpPr>
          <p:nvPr>
            <p:ph type="sldNum" sz="quarter" idx="5"/>
          </p:nvPr>
        </p:nvSpPr>
        <p:spPr/>
        <p:txBody>
          <a:bodyPr/>
          <a:lstStyle/>
          <a:p>
            <a:fld id="{E4A59EB3-C834-47C6-B4F1-FB6BE62CE931}" type="slidenum">
              <a:rPr lang="en-US" smtClean="0"/>
              <a:t>5</a:t>
            </a:fld>
            <a:endParaRPr lang="en-US"/>
          </a:p>
        </p:txBody>
      </p:sp>
    </p:spTree>
    <p:extLst>
      <p:ext uri="{BB962C8B-B14F-4D97-AF65-F5344CB8AC3E}">
        <p14:creationId xmlns:p14="http://schemas.microsoft.com/office/powerpoint/2010/main" val="522423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collecting the résumé, the next challenge is reading different file formats.</a:t>
            </a:r>
          </a:p>
          <a:p>
            <a:r>
              <a:rPr lang="en-US" dirty="0"/>
              <a:t>For a normal digital PDF, </a:t>
            </a:r>
            <a:r>
              <a:rPr lang="en-US" dirty="0" err="1"/>
              <a:t>ApplyPilot</a:t>
            </a:r>
            <a:r>
              <a:rPr lang="en-US" dirty="0"/>
              <a:t> first uses </a:t>
            </a:r>
            <a:r>
              <a:rPr lang="en-US" b="1" dirty="0"/>
              <a:t>Read PDF Text</a:t>
            </a:r>
            <a:r>
              <a:rPr lang="en-US" dirty="0"/>
              <a:t>. But if the PDF is scanned and the extracted text is empty or too short, the robot automatically switches to </a:t>
            </a:r>
            <a:r>
              <a:rPr lang="en-US" b="1" dirty="0"/>
              <a:t>OCR</a:t>
            </a:r>
            <a:r>
              <a:rPr lang="en-US" dirty="0"/>
              <a:t>.</a:t>
            </a:r>
          </a:p>
          <a:p>
            <a:r>
              <a:rPr lang="en-US" dirty="0"/>
              <a:t>For PNG, JPG, and JPEG files, it uses OCR directly.</a:t>
            </a:r>
          </a:p>
          <a:p>
            <a:r>
              <a:rPr lang="en-US" dirty="0"/>
              <a:t>After reading the résumé, the robot extracts important details such as the candidate's name, email, education, experience, and skills.</a:t>
            </a:r>
          </a:p>
          <a:p>
            <a:r>
              <a:rPr lang="en-US" dirty="0"/>
              <a:t>I also added validation here. If important information is missing, or the résumé cannot be read properly, the application is marked as </a:t>
            </a:r>
            <a:r>
              <a:rPr lang="en-US" b="1" dirty="0"/>
              <a:t>Failed</a:t>
            </a:r>
            <a:r>
              <a:rPr lang="en-US" dirty="0"/>
              <a:t> and the reason is recorded instead of stopping the whole process.</a:t>
            </a:r>
          </a:p>
          <a:p>
            <a:r>
              <a:rPr lang="en-US" dirty="0"/>
              <a:t>Once the candidate information is successfully extracted, the next step is to score the candidate using Python.</a:t>
            </a:r>
          </a:p>
          <a:p>
            <a:endParaRPr lang="en-US" dirty="0"/>
          </a:p>
        </p:txBody>
      </p:sp>
      <p:sp>
        <p:nvSpPr>
          <p:cNvPr id="4" name="Slide Number Placeholder 3"/>
          <p:cNvSpPr>
            <a:spLocks noGrp="1"/>
          </p:cNvSpPr>
          <p:nvPr>
            <p:ph type="sldNum" sz="quarter" idx="5"/>
          </p:nvPr>
        </p:nvSpPr>
        <p:spPr/>
        <p:txBody>
          <a:bodyPr/>
          <a:lstStyle/>
          <a:p>
            <a:fld id="{E4A59EB3-C834-47C6-B4F1-FB6BE62CE931}" type="slidenum">
              <a:rPr lang="en-US" smtClean="0"/>
              <a:t>6</a:t>
            </a:fld>
            <a:endParaRPr lang="en-US"/>
          </a:p>
        </p:txBody>
      </p:sp>
    </p:spTree>
    <p:extLst>
      <p:ext uri="{BB962C8B-B14F-4D97-AF65-F5344CB8AC3E}">
        <p14:creationId xmlns:p14="http://schemas.microsoft.com/office/powerpoint/2010/main" val="4251696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résumé is read, the next problem is keeping the screening consistent.</a:t>
            </a:r>
          </a:p>
          <a:p>
            <a:r>
              <a:rPr lang="en-US" dirty="0"/>
              <a:t>So </a:t>
            </a:r>
            <a:r>
              <a:rPr lang="en-US" dirty="0" err="1"/>
              <a:t>ApplyPilot</a:t>
            </a:r>
            <a:r>
              <a:rPr lang="en-US" dirty="0"/>
              <a:t> sends the candidate’s </a:t>
            </a:r>
            <a:r>
              <a:rPr lang="en-US" b="1" dirty="0"/>
              <a:t>skills, education, and experience</a:t>
            </a:r>
            <a:r>
              <a:rPr lang="en-US" dirty="0"/>
              <a:t> to my Python file using </a:t>
            </a:r>
            <a:r>
              <a:rPr lang="en-US" b="1" dirty="0"/>
              <a:t>Invoke PowerShell</a:t>
            </a:r>
            <a:r>
              <a:rPr lang="en-US" dirty="0"/>
              <a:t>.</a:t>
            </a:r>
          </a:p>
          <a:p>
            <a:r>
              <a:rPr lang="en-US" dirty="0"/>
              <a:t>The Python script applies the same scoring rules to every candidate and returns a </a:t>
            </a:r>
            <a:r>
              <a:rPr lang="en-US" b="1" dirty="0"/>
              <a:t>score</a:t>
            </a:r>
            <a:r>
              <a:rPr lang="en-US" dirty="0"/>
              <a:t> and a priority of </a:t>
            </a:r>
            <a:r>
              <a:rPr lang="en-US" b="1" dirty="0"/>
              <a:t>High, Medium, or Low</a:t>
            </a:r>
            <a:r>
              <a:rPr lang="en-US" dirty="0"/>
              <a:t>.</a:t>
            </a:r>
          </a:p>
          <a:p>
            <a:r>
              <a:rPr lang="en-US" dirty="0"/>
              <a:t>I also added validation here. If the Python output is missing or invalid, </a:t>
            </a:r>
            <a:r>
              <a:rPr lang="en-US" dirty="0" err="1"/>
              <a:t>ApplyPilot</a:t>
            </a:r>
            <a:r>
              <a:rPr lang="en-US" dirty="0"/>
              <a:t> safely uses a score of </a:t>
            </a:r>
            <a:r>
              <a:rPr lang="en-US" b="1" dirty="0"/>
              <a:t>0</a:t>
            </a:r>
            <a:r>
              <a:rPr lang="en-US" dirty="0"/>
              <a:t> and </a:t>
            </a:r>
            <a:r>
              <a:rPr lang="en-US" b="1" dirty="0"/>
              <a:t>Low priority</a:t>
            </a:r>
            <a:r>
              <a:rPr lang="en-US" dirty="0"/>
              <a:t> instead of stopping the workflow.</a:t>
            </a:r>
          </a:p>
          <a:p>
            <a:r>
              <a:rPr lang="en-US" dirty="0"/>
              <a:t>After scoring, the next step is to check whether the applicant already exists in MySQL.</a:t>
            </a:r>
          </a:p>
          <a:p>
            <a:endParaRPr lang="en-US" dirty="0"/>
          </a:p>
        </p:txBody>
      </p:sp>
      <p:sp>
        <p:nvSpPr>
          <p:cNvPr id="4" name="Slide Number Placeholder 3"/>
          <p:cNvSpPr>
            <a:spLocks noGrp="1"/>
          </p:cNvSpPr>
          <p:nvPr>
            <p:ph type="sldNum" sz="quarter" idx="5"/>
          </p:nvPr>
        </p:nvSpPr>
        <p:spPr/>
        <p:txBody>
          <a:bodyPr/>
          <a:lstStyle/>
          <a:p>
            <a:fld id="{E4A59EB3-C834-47C6-B4F1-FB6BE62CE931}" type="slidenum">
              <a:rPr lang="en-US" smtClean="0"/>
              <a:t>7</a:t>
            </a:fld>
            <a:endParaRPr lang="en-US"/>
          </a:p>
        </p:txBody>
      </p:sp>
    </p:spTree>
    <p:extLst>
      <p:ext uri="{BB962C8B-B14F-4D97-AF65-F5344CB8AC3E}">
        <p14:creationId xmlns:p14="http://schemas.microsoft.com/office/powerpoint/2010/main" val="2110352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scoring, the next problem is checking for duplicate applicants and keeping the files </a:t>
            </a:r>
            <a:r>
              <a:rPr lang="en-US" dirty="0" err="1"/>
              <a:t>organised</a:t>
            </a:r>
            <a:r>
              <a:rPr lang="en-US" dirty="0"/>
              <a:t>.</a:t>
            </a:r>
          </a:p>
          <a:p>
            <a:r>
              <a:rPr lang="en-US" dirty="0" err="1"/>
              <a:t>ApplyPilot</a:t>
            </a:r>
            <a:r>
              <a:rPr lang="en-US" dirty="0"/>
              <a:t> first cleans the candidate’s email by removing extra spaces and changing it to lowercase. Then it checks MySQL to see whether the same email already exists.</a:t>
            </a:r>
          </a:p>
          <a:p>
            <a:r>
              <a:rPr lang="en-US" dirty="0"/>
              <a:t>If the email already exists, the application is marked as </a:t>
            </a:r>
            <a:r>
              <a:rPr lang="en-US" b="1" dirty="0"/>
              <a:t>Duplicate</a:t>
            </a:r>
            <a:r>
              <a:rPr lang="en-US" dirty="0"/>
              <a:t>. If it is a new applicant, the candidate details, score, and priority are inserted into MySQL, and the robot checks that the insert was successful.</a:t>
            </a:r>
          </a:p>
          <a:p>
            <a:r>
              <a:rPr lang="en-US" dirty="0"/>
              <a:t>Finally, the résumé is moved into the correct folder: </a:t>
            </a:r>
            <a:r>
              <a:rPr lang="en-US" b="1" dirty="0"/>
              <a:t>Processed, Duplicate, or Failed</a:t>
            </a:r>
            <a:r>
              <a:rPr lang="en-US" dirty="0"/>
              <a:t>.</a:t>
            </a:r>
          </a:p>
          <a:p>
            <a:r>
              <a:rPr lang="en-US" dirty="0"/>
              <a:t>.</a:t>
            </a:r>
          </a:p>
          <a:p>
            <a:endParaRPr lang="en-US" dirty="0"/>
          </a:p>
        </p:txBody>
      </p:sp>
      <p:sp>
        <p:nvSpPr>
          <p:cNvPr id="4" name="Slide Number Placeholder 3"/>
          <p:cNvSpPr>
            <a:spLocks noGrp="1"/>
          </p:cNvSpPr>
          <p:nvPr>
            <p:ph type="sldNum" sz="quarter" idx="5"/>
          </p:nvPr>
        </p:nvSpPr>
        <p:spPr/>
        <p:txBody>
          <a:bodyPr/>
          <a:lstStyle/>
          <a:p>
            <a:fld id="{E4A59EB3-C834-47C6-B4F1-FB6BE62CE931}" type="slidenum">
              <a:rPr lang="en-US" smtClean="0"/>
              <a:t>8</a:t>
            </a:fld>
            <a:endParaRPr lang="en-US"/>
          </a:p>
        </p:txBody>
      </p:sp>
    </p:spTree>
    <p:extLst>
      <p:ext uri="{BB962C8B-B14F-4D97-AF65-F5344CB8AC3E}">
        <p14:creationId xmlns:p14="http://schemas.microsoft.com/office/powerpoint/2010/main" val="901945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all the applications are </a:t>
            </a:r>
            <a:r>
              <a:rPr lang="en-US" dirty="0" err="1"/>
              <a:t>processedApplyPilot</a:t>
            </a:r>
            <a:r>
              <a:rPr lang="en-US" dirty="0"/>
              <a:t> first checks that candidate results are available, then sorts them by </a:t>
            </a:r>
            <a:r>
              <a:rPr lang="en-US" b="1" dirty="0"/>
              <a:t>priority first and score second</a:t>
            </a:r>
            <a:r>
              <a:rPr lang="en-US" dirty="0"/>
              <a:t>. So High-priority candidates appear before Medium and Low, and within the same priority, the higher score comes first.</a:t>
            </a:r>
          </a:p>
          <a:p>
            <a:r>
              <a:rPr lang="en-US" dirty="0"/>
              <a:t>After sorting, the robot writes the results into the </a:t>
            </a:r>
            <a:r>
              <a:rPr lang="en-US" b="1" dirty="0"/>
              <a:t>Candidate Results</a:t>
            </a:r>
            <a:r>
              <a:rPr lang="en-US" dirty="0"/>
              <a:t> worksheet starting from cell A1.</a:t>
            </a:r>
          </a:p>
          <a:p>
            <a:r>
              <a:rPr lang="en-US" dirty="0"/>
              <a:t>The final report includes the candidate details, score, priority, status, and error reason.</a:t>
            </a:r>
          </a:p>
          <a:p>
            <a:r>
              <a:rPr lang="en-US" dirty="0"/>
              <a:t>This gives the recruiter one clear ranked report instead of checking all the applications again.</a:t>
            </a:r>
          </a:p>
          <a:p>
            <a:endParaRPr lang="en-US" dirty="0"/>
          </a:p>
        </p:txBody>
      </p:sp>
      <p:sp>
        <p:nvSpPr>
          <p:cNvPr id="4" name="Slide Number Placeholder 3"/>
          <p:cNvSpPr>
            <a:spLocks noGrp="1"/>
          </p:cNvSpPr>
          <p:nvPr>
            <p:ph type="sldNum" sz="quarter" idx="5"/>
          </p:nvPr>
        </p:nvSpPr>
        <p:spPr/>
        <p:txBody>
          <a:bodyPr/>
          <a:lstStyle/>
          <a:p>
            <a:fld id="{E4A59EB3-C834-47C6-B4F1-FB6BE62CE931}" type="slidenum">
              <a:rPr lang="en-US" smtClean="0"/>
              <a:t>9</a:t>
            </a:fld>
            <a:endParaRPr lang="en-US"/>
          </a:p>
        </p:txBody>
      </p:sp>
    </p:spTree>
    <p:extLst>
      <p:ext uri="{BB962C8B-B14F-4D97-AF65-F5344CB8AC3E}">
        <p14:creationId xmlns:p14="http://schemas.microsoft.com/office/powerpoint/2010/main" val="3737955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7A052-107C-EEBC-34E8-BAC1758D15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521461-B166-630A-DB29-394953A232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0A07E1-50E3-69DC-F3F4-6C8AA5D8F5E6}"/>
              </a:ext>
            </a:extLst>
          </p:cNvPr>
          <p:cNvSpPr>
            <a:spLocks noGrp="1"/>
          </p:cNvSpPr>
          <p:nvPr>
            <p:ph type="dt" sz="half" idx="10"/>
          </p:nvPr>
        </p:nvSpPr>
        <p:spPr/>
        <p:txBody>
          <a:bodyPr/>
          <a:lstStyle/>
          <a:p>
            <a:fld id="{2F2B5284-BCBC-40F2-BE1E-6CFB3D2BA82E}" type="datetimeFigureOut">
              <a:rPr lang="en-SG" smtClean="0"/>
              <a:t>19/8/2026</a:t>
            </a:fld>
            <a:endParaRPr lang="en-SG"/>
          </a:p>
        </p:txBody>
      </p:sp>
      <p:sp>
        <p:nvSpPr>
          <p:cNvPr id="5" name="Footer Placeholder 4">
            <a:extLst>
              <a:ext uri="{FF2B5EF4-FFF2-40B4-BE49-F238E27FC236}">
                <a16:creationId xmlns:a16="http://schemas.microsoft.com/office/drawing/2014/main" id="{E7E57383-EF8D-1FE4-E05A-54AF56AF1E5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F9F6AA1-E098-C939-56C3-5197D06E4F6B}"/>
              </a:ext>
            </a:extLst>
          </p:cNvPr>
          <p:cNvSpPr>
            <a:spLocks noGrp="1"/>
          </p:cNvSpPr>
          <p:nvPr>
            <p:ph type="sldNum" sz="quarter" idx="12"/>
          </p:nvPr>
        </p:nvSpPr>
        <p:spPr/>
        <p:txBody>
          <a:bodyPr/>
          <a:lstStyle/>
          <a:p>
            <a:fld id="{D53882FF-E628-4E7D-976A-7AC6BB25A56A}" type="slidenum">
              <a:rPr lang="en-SG" smtClean="0"/>
              <a:t>‹#›</a:t>
            </a:fld>
            <a:endParaRPr lang="en-SG"/>
          </a:p>
        </p:txBody>
      </p:sp>
    </p:spTree>
    <p:extLst>
      <p:ext uri="{BB962C8B-B14F-4D97-AF65-F5344CB8AC3E}">
        <p14:creationId xmlns:p14="http://schemas.microsoft.com/office/powerpoint/2010/main" val="2586277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10F3C-BBC5-0EBC-4714-DCCF10606D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A12A9D-AEB7-2250-075E-6B8AF2F8AC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626F2C-FD0A-1BA5-DFBF-1BBC36BBF5A2}"/>
              </a:ext>
            </a:extLst>
          </p:cNvPr>
          <p:cNvSpPr>
            <a:spLocks noGrp="1"/>
          </p:cNvSpPr>
          <p:nvPr>
            <p:ph type="dt" sz="half" idx="10"/>
          </p:nvPr>
        </p:nvSpPr>
        <p:spPr/>
        <p:txBody>
          <a:bodyPr/>
          <a:lstStyle/>
          <a:p>
            <a:fld id="{2F2B5284-BCBC-40F2-BE1E-6CFB3D2BA82E}" type="datetimeFigureOut">
              <a:rPr lang="en-SG" smtClean="0"/>
              <a:t>19/8/2026</a:t>
            </a:fld>
            <a:endParaRPr lang="en-SG"/>
          </a:p>
        </p:txBody>
      </p:sp>
      <p:sp>
        <p:nvSpPr>
          <p:cNvPr id="5" name="Footer Placeholder 4">
            <a:extLst>
              <a:ext uri="{FF2B5EF4-FFF2-40B4-BE49-F238E27FC236}">
                <a16:creationId xmlns:a16="http://schemas.microsoft.com/office/drawing/2014/main" id="{826F06B2-45C2-F9F7-2B5D-70AB8E0122B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5EB39AC-582E-7230-631B-25BCB11A8DF0}"/>
              </a:ext>
            </a:extLst>
          </p:cNvPr>
          <p:cNvSpPr>
            <a:spLocks noGrp="1"/>
          </p:cNvSpPr>
          <p:nvPr>
            <p:ph type="sldNum" sz="quarter" idx="12"/>
          </p:nvPr>
        </p:nvSpPr>
        <p:spPr/>
        <p:txBody>
          <a:bodyPr/>
          <a:lstStyle/>
          <a:p>
            <a:fld id="{D53882FF-E628-4E7D-976A-7AC6BB25A56A}" type="slidenum">
              <a:rPr lang="en-SG" smtClean="0"/>
              <a:t>‹#›</a:t>
            </a:fld>
            <a:endParaRPr lang="en-SG"/>
          </a:p>
        </p:txBody>
      </p:sp>
    </p:spTree>
    <p:extLst>
      <p:ext uri="{BB962C8B-B14F-4D97-AF65-F5344CB8AC3E}">
        <p14:creationId xmlns:p14="http://schemas.microsoft.com/office/powerpoint/2010/main" val="1594616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C0F9A-7E5C-4DDD-39A9-5C29C25990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6ACFE6-F0A1-8521-D445-F2BD91BF78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163814-8325-66F7-B8FB-F2F8C94F3A97}"/>
              </a:ext>
            </a:extLst>
          </p:cNvPr>
          <p:cNvSpPr>
            <a:spLocks noGrp="1"/>
          </p:cNvSpPr>
          <p:nvPr>
            <p:ph type="dt" sz="half" idx="10"/>
          </p:nvPr>
        </p:nvSpPr>
        <p:spPr/>
        <p:txBody>
          <a:bodyPr/>
          <a:lstStyle/>
          <a:p>
            <a:fld id="{2F2B5284-BCBC-40F2-BE1E-6CFB3D2BA82E}" type="datetimeFigureOut">
              <a:rPr lang="en-SG" smtClean="0"/>
              <a:t>19/8/2026</a:t>
            </a:fld>
            <a:endParaRPr lang="en-SG"/>
          </a:p>
        </p:txBody>
      </p:sp>
      <p:sp>
        <p:nvSpPr>
          <p:cNvPr id="5" name="Footer Placeholder 4">
            <a:extLst>
              <a:ext uri="{FF2B5EF4-FFF2-40B4-BE49-F238E27FC236}">
                <a16:creationId xmlns:a16="http://schemas.microsoft.com/office/drawing/2014/main" id="{D89355B7-BE19-363D-DB3A-FADB332E3EA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0473CD4-7AD2-BB07-B165-42D912F0513D}"/>
              </a:ext>
            </a:extLst>
          </p:cNvPr>
          <p:cNvSpPr>
            <a:spLocks noGrp="1"/>
          </p:cNvSpPr>
          <p:nvPr>
            <p:ph type="sldNum" sz="quarter" idx="12"/>
          </p:nvPr>
        </p:nvSpPr>
        <p:spPr/>
        <p:txBody>
          <a:bodyPr/>
          <a:lstStyle/>
          <a:p>
            <a:fld id="{D53882FF-E628-4E7D-976A-7AC6BB25A56A}" type="slidenum">
              <a:rPr lang="en-SG" smtClean="0"/>
              <a:t>‹#›</a:t>
            </a:fld>
            <a:endParaRPr lang="en-SG"/>
          </a:p>
        </p:txBody>
      </p:sp>
    </p:spTree>
    <p:extLst>
      <p:ext uri="{BB962C8B-B14F-4D97-AF65-F5344CB8AC3E}">
        <p14:creationId xmlns:p14="http://schemas.microsoft.com/office/powerpoint/2010/main" val="752837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D9AAA-1DA3-DE74-1DE3-A862E863BF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60F77D-BD07-48A8-2048-BDA6581C1C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D83115-FC33-B989-C96A-FE316E83C9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88548D-4802-D753-FA75-6FF0B309BBFF}"/>
              </a:ext>
            </a:extLst>
          </p:cNvPr>
          <p:cNvSpPr>
            <a:spLocks noGrp="1"/>
          </p:cNvSpPr>
          <p:nvPr>
            <p:ph type="dt" sz="half" idx="10"/>
          </p:nvPr>
        </p:nvSpPr>
        <p:spPr/>
        <p:txBody>
          <a:bodyPr/>
          <a:lstStyle/>
          <a:p>
            <a:fld id="{2F2B5284-BCBC-40F2-BE1E-6CFB3D2BA82E}" type="datetimeFigureOut">
              <a:rPr lang="en-SG" smtClean="0"/>
              <a:t>19/8/2026</a:t>
            </a:fld>
            <a:endParaRPr lang="en-SG"/>
          </a:p>
        </p:txBody>
      </p:sp>
      <p:sp>
        <p:nvSpPr>
          <p:cNvPr id="6" name="Footer Placeholder 5">
            <a:extLst>
              <a:ext uri="{FF2B5EF4-FFF2-40B4-BE49-F238E27FC236}">
                <a16:creationId xmlns:a16="http://schemas.microsoft.com/office/drawing/2014/main" id="{D23F045F-0B4B-2006-FF79-11028683F736}"/>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20069594-300A-C0ED-24AD-7050E55927D3}"/>
              </a:ext>
            </a:extLst>
          </p:cNvPr>
          <p:cNvSpPr>
            <a:spLocks noGrp="1"/>
          </p:cNvSpPr>
          <p:nvPr>
            <p:ph type="sldNum" sz="quarter" idx="12"/>
          </p:nvPr>
        </p:nvSpPr>
        <p:spPr/>
        <p:txBody>
          <a:bodyPr/>
          <a:lstStyle/>
          <a:p>
            <a:fld id="{D53882FF-E628-4E7D-976A-7AC6BB25A56A}" type="slidenum">
              <a:rPr lang="en-SG" smtClean="0"/>
              <a:t>‹#›</a:t>
            </a:fld>
            <a:endParaRPr lang="en-SG"/>
          </a:p>
        </p:txBody>
      </p:sp>
    </p:spTree>
    <p:extLst>
      <p:ext uri="{BB962C8B-B14F-4D97-AF65-F5344CB8AC3E}">
        <p14:creationId xmlns:p14="http://schemas.microsoft.com/office/powerpoint/2010/main" val="2851889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C9D18-9482-100F-4F8A-1DF4B903A3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23F720-0EB9-D670-DB25-C899FADB25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CDE82-321C-87F8-B3B6-FCE2E7C121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18B239-77AC-CF77-4F22-A5D67857DC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3CDDA2-4273-7846-9F37-4FDC2F7C55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1AC05A-4EC6-67BB-803A-101CF63F65B2}"/>
              </a:ext>
            </a:extLst>
          </p:cNvPr>
          <p:cNvSpPr>
            <a:spLocks noGrp="1"/>
          </p:cNvSpPr>
          <p:nvPr>
            <p:ph type="dt" sz="half" idx="10"/>
          </p:nvPr>
        </p:nvSpPr>
        <p:spPr/>
        <p:txBody>
          <a:bodyPr/>
          <a:lstStyle/>
          <a:p>
            <a:fld id="{2F2B5284-BCBC-40F2-BE1E-6CFB3D2BA82E}" type="datetimeFigureOut">
              <a:rPr lang="en-SG" smtClean="0"/>
              <a:t>19/8/2026</a:t>
            </a:fld>
            <a:endParaRPr lang="en-SG"/>
          </a:p>
        </p:txBody>
      </p:sp>
      <p:sp>
        <p:nvSpPr>
          <p:cNvPr id="8" name="Footer Placeholder 7">
            <a:extLst>
              <a:ext uri="{FF2B5EF4-FFF2-40B4-BE49-F238E27FC236}">
                <a16:creationId xmlns:a16="http://schemas.microsoft.com/office/drawing/2014/main" id="{B7339A82-311F-81AD-C763-8625256986E2}"/>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81B8580F-CBE5-839C-0E96-EB7B31BD8004}"/>
              </a:ext>
            </a:extLst>
          </p:cNvPr>
          <p:cNvSpPr>
            <a:spLocks noGrp="1"/>
          </p:cNvSpPr>
          <p:nvPr>
            <p:ph type="sldNum" sz="quarter" idx="12"/>
          </p:nvPr>
        </p:nvSpPr>
        <p:spPr/>
        <p:txBody>
          <a:bodyPr/>
          <a:lstStyle/>
          <a:p>
            <a:fld id="{D53882FF-E628-4E7D-976A-7AC6BB25A56A}" type="slidenum">
              <a:rPr lang="en-SG" smtClean="0"/>
              <a:t>‹#›</a:t>
            </a:fld>
            <a:endParaRPr lang="en-SG"/>
          </a:p>
        </p:txBody>
      </p:sp>
    </p:spTree>
    <p:extLst>
      <p:ext uri="{BB962C8B-B14F-4D97-AF65-F5344CB8AC3E}">
        <p14:creationId xmlns:p14="http://schemas.microsoft.com/office/powerpoint/2010/main" val="3788914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25034-487A-5F36-8043-9CA98AA0AA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A25BD7-CDD1-3BBD-39BC-9F9F928016C8}"/>
              </a:ext>
            </a:extLst>
          </p:cNvPr>
          <p:cNvSpPr>
            <a:spLocks noGrp="1"/>
          </p:cNvSpPr>
          <p:nvPr>
            <p:ph type="dt" sz="half" idx="10"/>
          </p:nvPr>
        </p:nvSpPr>
        <p:spPr/>
        <p:txBody>
          <a:bodyPr/>
          <a:lstStyle/>
          <a:p>
            <a:fld id="{2F2B5284-BCBC-40F2-BE1E-6CFB3D2BA82E}" type="datetimeFigureOut">
              <a:rPr lang="en-SG" smtClean="0"/>
              <a:t>19/8/2026</a:t>
            </a:fld>
            <a:endParaRPr lang="en-SG"/>
          </a:p>
        </p:txBody>
      </p:sp>
      <p:sp>
        <p:nvSpPr>
          <p:cNvPr id="4" name="Footer Placeholder 3">
            <a:extLst>
              <a:ext uri="{FF2B5EF4-FFF2-40B4-BE49-F238E27FC236}">
                <a16:creationId xmlns:a16="http://schemas.microsoft.com/office/drawing/2014/main" id="{387E678B-500E-6A70-376C-2449030894FC}"/>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6339CC58-976D-A054-AE3A-32BC3BD5313F}"/>
              </a:ext>
            </a:extLst>
          </p:cNvPr>
          <p:cNvSpPr>
            <a:spLocks noGrp="1"/>
          </p:cNvSpPr>
          <p:nvPr>
            <p:ph type="sldNum" sz="quarter" idx="12"/>
          </p:nvPr>
        </p:nvSpPr>
        <p:spPr/>
        <p:txBody>
          <a:bodyPr/>
          <a:lstStyle/>
          <a:p>
            <a:fld id="{D53882FF-E628-4E7D-976A-7AC6BB25A56A}" type="slidenum">
              <a:rPr lang="en-SG" smtClean="0"/>
              <a:t>‹#›</a:t>
            </a:fld>
            <a:endParaRPr lang="en-SG"/>
          </a:p>
        </p:txBody>
      </p:sp>
    </p:spTree>
    <p:extLst>
      <p:ext uri="{BB962C8B-B14F-4D97-AF65-F5344CB8AC3E}">
        <p14:creationId xmlns:p14="http://schemas.microsoft.com/office/powerpoint/2010/main" val="2829822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F0B66B-AC2E-467E-DDA6-47DACE97B661}"/>
              </a:ext>
            </a:extLst>
          </p:cNvPr>
          <p:cNvSpPr>
            <a:spLocks noGrp="1"/>
          </p:cNvSpPr>
          <p:nvPr>
            <p:ph type="dt" sz="half" idx="10"/>
          </p:nvPr>
        </p:nvSpPr>
        <p:spPr/>
        <p:txBody>
          <a:bodyPr/>
          <a:lstStyle/>
          <a:p>
            <a:fld id="{2F2B5284-BCBC-40F2-BE1E-6CFB3D2BA82E}" type="datetimeFigureOut">
              <a:rPr lang="en-SG" smtClean="0"/>
              <a:t>19/8/2026</a:t>
            </a:fld>
            <a:endParaRPr lang="en-SG"/>
          </a:p>
        </p:txBody>
      </p:sp>
      <p:sp>
        <p:nvSpPr>
          <p:cNvPr id="3" name="Footer Placeholder 2">
            <a:extLst>
              <a:ext uri="{FF2B5EF4-FFF2-40B4-BE49-F238E27FC236}">
                <a16:creationId xmlns:a16="http://schemas.microsoft.com/office/drawing/2014/main" id="{F1182374-74C1-ECD3-53CE-88BE84443465}"/>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92037337-3104-E6E3-C491-F8E9E2CCF246}"/>
              </a:ext>
            </a:extLst>
          </p:cNvPr>
          <p:cNvSpPr>
            <a:spLocks noGrp="1"/>
          </p:cNvSpPr>
          <p:nvPr>
            <p:ph type="sldNum" sz="quarter" idx="12"/>
          </p:nvPr>
        </p:nvSpPr>
        <p:spPr/>
        <p:txBody>
          <a:bodyPr/>
          <a:lstStyle/>
          <a:p>
            <a:fld id="{D53882FF-E628-4E7D-976A-7AC6BB25A56A}" type="slidenum">
              <a:rPr lang="en-SG" smtClean="0"/>
              <a:t>‹#›</a:t>
            </a:fld>
            <a:endParaRPr lang="en-SG"/>
          </a:p>
        </p:txBody>
      </p:sp>
    </p:spTree>
    <p:extLst>
      <p:ext uri="{BB962C8B-B14F-4D97-AF65-F5344CB8AC3E}">
        <p14:creationId xmlns:p14="http://schemas.microsoft.com/office/powerpoint/2010/main" val="3337197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58F88-91CA-E028-0303-94F3BD9E52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958DA5-B19A-B4C1-26CB-375014DE98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7F3F29-E8FD-F3C8-E34F-DAC0CD7E00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6B7C8-2BA0-97EA-C0A4-7D66268CDBBD}"/>
              </a:ext>
            </a:extLst>
          </p:cNvPr>
          <p:cNvSpPr>
            <a:spLocks noGrp="1"/>
          </p:cNvSpPr>
          <p:nvPr>
            <p:ph type="dt" sz="half" idx="10"/>
          </p:nvPr>
        </p:nvSpPr>
        <p:spPr/>
        <p:txBody>
          <a:bodyPr/>
          <a:lstStyle/>
          <a:p>
            <a:fld id="{2F2B5284-BCBC-40F2-BE1E-6CFB3D2BA82E}" type="datetimeFigureOut">
              <a:rPr lang="en-SG" smtClean="0"/>
              <a:t>19/8/2026</a:t>
            </a:fld>
            <a:endParaRPr lang="en-SG"/>
          </a:p>
        </p:txBody>
      </p:sp>
      <p:sp>
        <p:nvSpPr>
          <p:cNvPr id="6" name="Footer Placeholder 5">
            <a:extLst>
              <a:ext uri="{FF2B5EF4-FFF2-40B4-BE49-F238E27FC236}">
                <a16:creationId xmlns:a16="http://schemas.microsoft.com/office/drawing/2014/main" id="{F6E7EB13-9B45-50D0-887A-61B4439E9BA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FB289044-C67F-36F0-6D56-E8631C3DB27A}"/>
              </a:ext>
            </a:extLst>
          </p:cNvPr>
          <p:cNvSpPr>
            <a:spLocks noGrp="1"/>
          </p:cNvSpPr>
          <p:nvPr>
            <p:ph type="sldNum" sz="quarter" idx="12"/>
          </p:nvPr>
        </p:nvSpPr>
        <p:spPr/>
        <p:txBody>
          <a:bodyPr/>
          <a:lstStyle/>
          <a:p>
            <a:fld id="{D53882FF-E628-4E7D-976A-7AC6BB25A56A}" type="slidenum">
              <a:rPr lang="en-SG" smtClean="0"/>
              <a:t>‹#›</a:t>
            </a:fld>
            <a:endParaRPr lang="en-SG"/>
          </a:p>
        </p:txBody>
      </p:sp>
    </p:spTree>
    <p:extLst>
      <p:ext uri="{BB962C8B-B14F-4D97-AF65-F5344CB8AC3E}">
        <p14:creationId xmlns:p14="http://schemas.microsoft.com/office/powerpoint/2010/main" val="4053094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AF0A8-549A-8300-A43A-52316706DD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62C795-B04B-858C-970A-1BECC03395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D15EF9-8C30-8C02-83CF-3C64C7A4F8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66B6D7-907F-62EA-CE58-F121267D0A33}"/>
              </a:ext>
            </a:extLst>
          </p:cNvPr>
          <p:cNvSpPr>
            <a:spLocks noGrp="1"/>
          </p:cNvSpPr>
          <p:nvPr>
            <p:ph type="dt" sz="half" idx="10"/>
          </p:nvPr>
        </p:nvSpPr>
        <p:spPr/>
        <p:txBody>
          <a:bodyPr/>
          <a:lstStyle/>
          <a:p>
            <a:fld id="{2F2B5284-BCBC-40F2-BE1E-6CFB3D2BA82E}" type="datetimeFigureOut">
              <a:rPr lang="en-SG" smtClean="0"/>
              <a:t>19/8/2026</a:t>
            </a:fld>
            <a:endParaRPr lang="en-SG"/>
          </a:p>
        </p:txBody>
      </p:sp>
      <p:sp>
        <p:nvSpPr>
          <p:cNvPr id="6" name="Footer Placeholder 5">
            <a:extLst>
              <a:ext uri="{FF2B5EF4-FFF2-40B4-BE49-F238E27FC236}">
                <a16:creationId xmlns:a16="http://schemas.microsoft.com/office/drawing/2014/main" id="{F2DD5F4F-3FDF-CD99-C0A9-33B22679035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0F37A14-664C-2BC4-9D70-65DA19BCDF24}"/>
              </a:ext>
            </a:extLst>
          </p:cNvPr>
          <p:cNvSpPr>
            <a:spLocks noGrp="1"/>
          </p:cNvSpPr>
          <p:nvPr>
            <p:ph type="sldNum" sz="quarter" idx="12"/>
          </p:nvPr>
        </p:nvSpPr>
        <p:spPr/>
        <p:txBody>
          <a:bodyPr/>
          <a:lstStyle/>
          <a:p>
            <a:fld id="{D53882FF-E628-4E7D-976A-7AC6BB25A56A}" type="slidenum">
              <a:rPr lang="en-SG" smtClean="0"/>
              <a:t>‹#›</a:t>
            </a:fld>
            <a:endParaRPr lang="en-SG"/>
          </a:p>
        </p:txBody>
      </p:sp>
    </p:spTree>
    <p:extLst>
      <p:ext uri="{BB962C8B-B14F-4D97-AF65-F5344CB8AC3E}">
        <p14:creationId xmlns:p14="http://schemas.microsoft.com/office/powerpoint/2010/main" val="200500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7AE1-AE4C-07C0-E555-C2D2324A63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86E720-3397-BD84-A2EB-504899C4F7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88685E-3F86-6DBE-04FC-EBB5E9B5816E}"/>
              </a:ext>
            </a:extLst>
          </p:cNvPr>
          <p:cNvSpPr>
            <a:spLocks noGrp="1"/>
          </p:cNvSpPr>
          <p:nvPr>
            <p:ph type="dt" sz="half" idx="10"/>
          </p:nvPr>
        </p:nvSpPr>
        <p:spPr/>
        <p:txBody>
          <a:bodyPr/>
          <a:lstStyle/>
          <a:p>
            <a:fld id="{2F2B5284-BCBC-40F2-BE1E-6CFB3D2BA82E}" type="datetimeFigureOut">
              <a:rPr lang="en-SG" smtClean="0"/>
              <a:t>19/8/2026</a:t>
            </a:fld>
            <a:endParaRPr lang="en-SG"/>
          </a:p>
        </p:txBody>
      </p:sp>
      <p:sp>
        <p:nvSpPr>
          <p:cNvPr id="5" name="Footer Placeholder 4">
            <a:extLst>
              <a:ext uri="{FF2B5EF4-FFF2-40B4-BE49-F238E27FC236}">
                <a16:creationId xmlns:a16="http://schemas.microsoft.com/office/drawing/2014/main" id="{B3756CE2-C10C-1BB1-F713-9F2A75360E4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4B95772-E254-66D4-5944-2A44B86D56F9}"/>
              </a:ext>
            </a:extLst>
          </p:cNvPr>
          <p:cNvSpPr>
            <a:spLocks noGrp="1"/>
          </p:cNvSpPr>
          <p:nvPr>
            <p:ph type="sldNum" sz="quarter" idx="12"/>
          </p:nvPr>
        </p:nvSpPr>
        <p:spPr/>
        <p:txBody>
          <a:bodyPr/>
          <a:lstStyle/>
          <a:p>
            <a:fld id="{D53882FF-E628-4E7D-976A-7AC6BB25A56A}" type="slidenum">
              <a:rPr lang="en-SG" smtClean="0"/>
              <a:t>‹#›</a:t>
            </a:fld>
            <a:endParaRPr lang="en-SG"/>
          </a:p>
        </p:txBody>
      </p:sp>
    </p:spTree>
    <p:extLst>
      <p:ext uri="{BB962C8B-B14F-4D97-AF65-F5344CB8AC3E}">
        <p14:creationId xmlns:p14="http://schemas.microsoft.com/office/powerpoint/2010/main" val="3535329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72B548-908D-A16D-0B1F-901A61EFA3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EBEEBD-4F70-A89B-6DE0-5EC0A0B402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A54771-216B-61C5-A43C-548947BF2F41}"/>
              </a:ext>
            </a:extLst>
          </p:cNvPr>
          <p:cNvSpPr>
            <a:spLocks noGrp="1"/>
          </p:cNvSpPr>
          <p:nvPr>
            <p:ph type="dt" sz="half" idx="10"/>
          </p:nvPr>
        </p:nvSpPr>
        <p:spPr/>
        <p:txBody>
          <a:bodyPr/>
          <a:lstStyle/>
          <a:p>
            <a:fld id="{2F2B5284-BCBC-40F2-BE1E-6CFB3D2BA82E}" type="datetimeFigureOut">
              <a:rPr lang="en-SG" smtClean="0"/>
              <a:t>19/8/2026</a:t>
            </a:fld>
            <a:endParaRPr lang="en-SG"/>
          </a:p>
        </p:txBody>
      </p:sp>
      <p:sp>
        <p:nvSpPr>
          <p:cNvPr id="5" name="Footer Placeholder 4">
            <a:extLst>
              <a:ext uri="{FF2B5EF4-FFF2-40B4-BE49-F238E27FC236}">
                <a16:creationId xmlns:a16="http://schemas.microsoft.com/office/drawing/2014/main" id="{E45AC9A6-1CD0-521C-3929-9ADC9A25B70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A377BA4-CE00-37CF-E162-A8FCB77F7965}"/>
              </a:ext>
            </a:extLst>
          </p:cNvPr>
          <p:cNvSpPr>
            <a:spLocks noGrp="1"/>
          </p:cNvSpPr>
          <p:nvPr>
            <p:ph type="sldNum" sz="quarter" idx="12"/>
          </p:nvPr>
        </p:nvSpPr>
        <p:spPr/>
        <p:txBody>
          <a:bodyPr/>
          <a:lstStyle/>
          <a:p>
            <a:fld id="{D53882FF-E628-4E7D-976A-7AC6BB25A56A}" type="slidenum">
              <a:rPr lang="en-SG" smtClean="0"/>
              <a:t>‹#›</a:t>
            </a:fld>
            <a:endParaRPr lang="en-SG"/>
          </a:p>
        </p:txBody>
      </p:sp>
    </p:spTree>
    <p:extLst>
      <p:ext uri="{BB962C8B-B14F-4D97-AF65-F5344CB8AC3E}">
        <p14:creationId xmlns:p14="http://schemas.microsoft.com/office/powerpoint/2010/main" val="10078494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WARM_MINIMAL">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F1"/>
          </a:solidFill>
          <a:ln w="12700">
            <a:solidFill>
              <a:srgbClr val="F7F5F1"/>
            </a:solidFill>
            <a:prstDash val="solid"/>
          </a:ln>
        </p:spPr>
      </p:sp>
      <p:sp>
        <p:nvSpPr>
          <p:cNvPr id="3" name="Shape 1"/>
          <p:cNvSpPr/>
          <p:nvPr/>
        </p:nvSpPr>
        <p:spPr>
          <a:xfrm>
            <a:off x="594360" y="6510528"/>
            <a:ext cx="11018520" cy="0"/>
          </a:xfrm>
          <a:prstGeom prst="line">
            <a:avLst/>
          </a:prstGeom>
          <a:noFill/>
          <a:ln w="6350">
            <a:solidFill>
              <a:srgbClr val="E7DED3"/>
            </a:solidFill>
            <a:prstDash val="solid"/>
          </a:ln>
        </p:spPr>
      </p:sp>
      <p:sp>
        <p:nvSpPr>
          <p:cNvPr id="4" name="Text 2"/>
          <p:cNvSpPr/>
          <p:nvPr/>
        </p:nvSpPr>
        <p:spPr>
          <a:xfrm>
            <a:off x="594360" y="6556248"/>
            <a:ext cx="3657600" cy="164592"/>
          </a:xfrm>
          <a:prstGeom prst="rect">
            <a:avLst/>
          </a:prstGeom>
          <a:noFill/>
          <a:ln/>
        </p:spPr>
        <p:txBody>
          <a:bodyPr wrap="square" rtlCol="0" anchor="ctr"/>
          <a:lstStyle/>
          <a:p>
            <a:pPr marL="0" indent="0">
              <a:buNone/>
            </a:pPr>
            <a:r>
              <a:rPr lang="en-US" sz="750" dirty="0">
                <a:solidFill>
                  <a:srgbClr val="8A7A6A"/>
                </a:solidFill>
                <a:latin typeface="Aptos" pitchFamily="34" charset="0"/>
                <a:ea typeface="Aptos" pitchFamily="34" charset="-122"/>
                <a:cs typeface="Aptos" pitchFamily="34" charset="-120"/>
              </a:rPr>
              <a:t>ApplyPilot · RPA Project Report</a:t>
            </a:r>
            <a:endParaRPr lang="en-US" sz="750" dirty="0"/>
          </a:p>
        </p:txBody>
      </p:sp>
    </p:spTree>
    <p:extLst>
      <p:ext uri="{BB962C8B-B14F-4D97-AF65-F5344CB8AC3E}">
        <p14:creationId xmlns:p14="http://schemas.microsoft.com/office/powerpoint/2010/main" val="416916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8DCB0C-2A37-37F0-98FF-B56EDE6830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BB88620-9B4E-BF00-64A9-0253E8211E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269D76-6696-B47A-D631-7B3DC8E29E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2B5284-BCBC-40F2-BE1E-6CFB3D2BA82E}" type="datetimeFigureOut">
              <a:rPr lang="en-SG" smtClean="0"/>
              <a:t>19/8/2026</a:t>
            </a:fld>
            <a:endParaRPr lang="en-SG"/>
          </a:p>
        </p:txBody>
      </p:sp>
      <p:sp>
        <p:nvSpPr>
          <p:cNvPr id="5" name="Footer Placeholder 4">
            <a:extLst>
              <a:ext uri="{FF2B5EF4-FFF2-40B4-BE49-F238E27FC236}">
                <a16:creationId xmlns:a16="http://schemas.microsoft.com/office/drawing/2014/main" id="{01243320-A6E9-2EC1-87B9-8BBF7A205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D834EFF4-37BF-A80C-A75F-386747DFAD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3882FF-E628-4E7D-976A-7AC6BB25A56A}" type="slidenum">
              <a:rPr lang="en-SG" smtClean="0"/>
              <a:t>‹#›</a:t>
            </a:fld>
            <a:endParaRPr lang="en-SG"/>
          </a:p>
        </p:txBody>
      </p:sp>
    </p:spTree>
    <p:extLst>
      <p:ext uri="{BB962C8B-B14F-4D97-AF65-F5344CB8AC3E}">
        <p14:creationId xmlns:p14="http://schemas.microsoft.com/office/powerpoint/2010/main" val="22827609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hyperlink" Target="https://youtu.be/KqSb8rVNgWc"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docs.uipath.com/activities/other/latest/productivity/about-the-excel-activities-pack" TargetMode="External"/><Relationship Id="rId3" Type="http://schemas.openxmlformats.org/officeDocument/2006/relationships/hyperlink" Target="https://docs.uipath.com/activities/other/latest/document-understanding/read-pdf-text" TargetMode="External"/><Relationship Id="rId7" Type="http://schemas.openxmlformats.org/officeDocument/2006/relationships/hyperlink" Target="https://docs.uipath.com/activities/other/latest/workflow/try-catch" TargetMode="External"/><Relationship Id="rId2" Type="http://schemas.openxmlformats.org/officeDocument/2006/relationships/hyperlink" Target="https://docs.uipath.com/activities/other/latest/productivity/gsuite-get-mail-messages" TargetMode="External"/><Relationship Id="rId1" Type="http://schemas.openxmlformats.org/officeDocument/2006/relationships/slideLayout" Target="../slideLayouts/slideLayout2.xml"/><Relationship Id="rId6" Type="http://schemas.openxmlformats.org/officeDocument/2006/relationships/hyperlink" Target="https://docs.uipath.com/activities/other/latest/developer/about-the-database-activities-pack" TargetMode="External"/><Relationship Id="rId5" Type="http://schemas.openxmlformats.org/officeDocument/2006/relationships/hyperlink" Target="https://docs.uipath.com/activities/other/latest/workflow/invoke-power-shell" TargetMode="External"/><Relationship Id="rId4" Type="http://schemas.openxmlformats.org/officeDocument/2006/relationships/hyperlink" Target="https://docs.uipath.com/activities/other/latest/document-understanding/read-pdf-with-ocr/" TargetMode="External"/><Relationship Id="rId9" Type="http://schemas.openxmlformats.org/officeDocument/2006/relationships/hyperlink" Target="https://docs.uipath.com/activities/other/latest/workflow/get-robot-credenti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91CA4-5920-8890-1254-859009F61259}"/>
              </a:ext>
            </a:extLst>
          </p:cNvPr>
          <p:cNvSpPr>
            <a:spLocks noGrp="1"/>
          </p:cNvSpPr>
          <p:nvPr>
            <p:ph type="ctrTitle"/>
          </p:nvPr>
        </p:nvSpPr>
        <p:spPr>
          <a:xfrm>
            <a:off x="1520651" y="1122363"/>
            <a:ext cx="9144000" cy="2387600"/>
          </a:xfrm>
        </p:spPr>
        <p:txBody>
          <a:bodyPr/>
          <a:lstStyle/>
          <a:p>
            <a:r>
              <a:rPr lang="en-US" dirty="0"/>
              <a:t>Project Report template</a:t>
            </a:r>
            <a:endParaRPr lang="en-SG" dirty="0"/>
          </a:p>
        </p:txBody>
      </p:sp>
      <p:sp>
        <p:nvSpPr>
          <p:cNvPr id="3" name="Subtitle 2">
            <a:extLst>
              <a:ext uri="{FF2B5EF4-FFF2-40B4-BE49-F238E27FC236}">
                <a16:creationId xmlns:a16="http://schemas.microsoft.com/office/drawing/2014/main" id="{74A95E70-DCAA-D51F-6996-C32E6F674C5C}"/>
              </a:ext>
            </a:extLst>
          </p:cNvPr>
          <p:cNvSpPr>
            <a:spLocks noGrp="1"/>
          </p:cNvSpPr>
          <p:nvPr>
            <p:ph type="subTitle" idx="1"/>
          </p:nvPr>
        </p:nvSpPr>
        <p:spPr/>
        <p:txBody>
          <a:bodyPr/>
          <a:lstStyle/>
          <a:p>
            <a:r>
              <a:rPr lang="en-SG" b="1" dirty="0"/>
              <a:t>Robotic Process Automation (CAI2C01)</a:t>
            </a:r>
            <a:endParaRPr lang="en-SG" dirty="0"/>
          </a:p>
          <a:p>
            <a:r>
              <a:rPr lang="en-SG" b="1" dirty="0"/>
              <a:t>AY2026/2027 April Semester</a:t>
            </a:r>
            <a:endParaRPr lang="en-SG" dirty="0"/>
          </a:p>
          <a:p>
            <a:endParaRPr lang="en-SG" dirty="0"/>
          </a:p>
        </p:txBody>
      </p:sp>
    </p:spTree>
    <p:extLst>
      <p:ext uri="{BB962C8B-B14F-4D97-AF65-F5344CB8AC3E}">
        <p14:creationId xmlns:p14="http://schemas.microsoft.com/office/powerpoint/2010/main" val="491984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CF0F1-15DC-E463-D00F-018E84609878}"/>
              </a:ext>
            </a:extLst>
          </p:cNvPr>
          <p:cNvSpPr>
            <a:spLocks noGrp="1"/>
          </p:cNvSpPr>
          <p:nvPr>
            <p:ph type="title"/>
          </p:nvPr>
        </p:nvSpPr>
        <p:spPr>
          <a:xfrm>
            <a:off x="478604" y="-189680"/>
            <a:ext cx="10515600" cy="1325563"/>
          </a:xfrm>
        </p:spPr>
        <p:txBody>
          <a:bodyPr>
            <a:normAutofit/>
          </a:bodyPr>
          <a:lstStyle/>
          <a:p>
            <a:r>
              <a:rPr lang="en-US" sz="4000" dirty="0">
                <a:solidFill>
                  <a:srgbClr val="111111"/>
                </a:solidFill>
              </a:rPr>
              <a:t>Problem statement</a:t>
            </a:r>
            <a:endParaRPr lang="en-SG" sz="4000" dirty="0">
              <a:solidFill>
                <a:srgbClr val="111111"/>
              </a:solidFill>
            </a:endParaRPr>
          </a:p>
        </p:txBody>
      </p:sp>
      <p:sp>
        <p:nvSpPr>
          <p:cNvPr id="4" name="Rectangle: Rounded Corners 3">
            <a:extLst>
              <a:ext uri="{FF2B5EF4-FFF2-40B4-BE49-F238E27FC236}">
                <a16:creationId xmlns:a16="http://schemas.microsoft.com/office/drawing/2014/main" id="{F4F1F0A7-3CE7-CA8B-01EE-5E851E5951D1}"/>
              </a:ext>
            </a:extLst>
          </p:cNvPr>
          <p:cNvSpPr/>
          <p:nvPr/>
        </p:nvSpPr>
        <p:spPr>
          <a:xfrm>
            <a:off x="478604" y="1037691"/>
            <a:ext cx="11239929" cy="2003460"/>
          </a:xfrm>
          <a:prstGeom prst="roundRect">
            <a:avLst/>
          </a:prstGeom>
          <a:solidFill>
            <a:srgbClr val="EEEA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0000"/>
              </a:lnSpc>
            </a:pPr>
            <a:r>
              <a:rPr lang="en-US" sz="2000" dirty="0">
                <a:solidFill>
                  <a:schemeClr val="tx1"/>
                </a:solidFill>
              </a:rPr>
              <a:t>Recruitment staff receive many job applications for technical roles such as </a:t>
            </a:r>
            <a:r>
              <a:rPr lang="en-US" sz="2000" b="1" dirty="0">
                <a:solidFill>
                  <a:schemeClr val="tx1"/>
                </a:solidFill>
              </a:rPr>
              <a:t>Junior Software Engineer</a:t>
            </a:r>
            <a:r>
              <a:rPr lang="en-US" sz="2000" dirty="0">
                <a:solidFill>
                  <a:schemeClr val="tx1"/>
                </a:solidFill>
              </a:rPr>
              <a:t>. They check each application email, download the résumés, read both PDF and scanned files, compare technical skills like </a:t>
            </a:r>
            <a:r>
              <a:rPr lang="en-US" sz="2000" b="1" dirty="0">
                <a:solidFill>
                  <a:schemeClr val="tx1"/>
                </a:solidFill>
              </a:rPr>
              <a:t>Python, Java and SQL</a:t>
            </a:r>
            <a:r>
              <a:rPr lang="en-US" sz="2000" dirty="0">
                <a:solidFill>
                  <a:schemeClr val="tx1"/>
                </a:solidFill>
              </a:rPr>
              <a:t>, check for duplicate applicants, and record every candidate’s details by hand</a:t>
            </a:r>
            <a:r>
              <a:rPr lang="en-US" dirty="0"/>
              <a:t>.</a:t>
            </a:r>
          </a:p>
        </p:txBody>
      </p:sp>
      <p:sp>
        <p:nvSpPr>
          <p:cNvPr id="6" name="Rectangle: Rounded Corners 5">
            <a:extLst>
              <a:ext uri="{FF2B5EF4-FFF2-40B4-BE49-F238E27FC236}">
                <a16:creationId xmlns:a16="http://schemas.microsoft.com/office/drawing/2014/main" id="{9F3D6823-D7B2-FBFD-6558-B3C7107C3FC3}"/>
              </a:ext>
            </a:extLst>
          </p:cNvPr>
          <p:cNvSpPr/>
          <p:nvPr/>
        </p:nvSpPr>
        <p:spPr>
          <a:xfrm>
            <a:off x="478605" y="3303141"/>
            <a:ext cx="11239928" cy="1330503"/>
          </a:xfrm>
          <a:prstGeom prst="roundRect">
            <a:avLst/>
          </a:prstGeom>
          <a:solidFill>
            <a:srgbClr val="F1E0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0000"/>
              </a:lnSpc>
            </a:pPr>
            <a:r>
              <a:rPr lang="en-US" b="1" dirty="0">
                <a:solidFill>
                  <a:schemeClr val="tx1"/>
                </a:solidFill>
              </a:rPr>
              <a:t>The main problem:</a:t>
            </a:r>
            <a:r>
              <a:rPr lang="en-US" dirty="0">
                <a:solidFill>
                  <a:schemeClr val="tx1"/>
                </a:solidFill>
              </a:rPr>
              <a:t> Recruitment staff spend too much time repeating the same manual tasks for every application. This makes the process slow and may also cause typing mistakes, missed information and inconsistent candidate screening.</a:t>
            </a:r>
          </a:p>
        </p:txBody>
      </p:sp>
      <p:sp>
        <p:nvSpPr>
          <p:cNvPr id="7" name="Rectangle: Rounded Corners 6">
            <a:extLst>
              <a:ext uri="{FF2B5EF4-FFF2-40B4-BE49-F238E27FC236}">
                <a16:creationId xmlns:a16="http://schemas.microsoft.com/office/drawing/2014/main" id="{C53FACD1-5766-D7E6-4934-01278C5B1FF1}"/>
              </a:ext>
            </a:extLst>
          </p:cNvPr>
          <p:cNvSpPr/>
          <p:nvPr/>
        </p:nvSpPr>
        <p:spPr>
          <a:xfrm>
            <a:off x="473468" y="4895634"/>
            <a:ext cx="11245064" cy="1541125"/>
          </a:xfrm>
          <a:prstGeom prst="roundRect">
            <a:avLst/>
          </a:prstGeom>
          <a:solidFill>
            <a:srgbClr val="E5EE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0000"/>
              </a:lnSpc>
            </a:pPr>
            <a:r>
              <a:rPr lang="en-US" b="1" dirty="0">
                <a:solidFill>
                  <a:schemeClr val="tx1"/>
                </a:solidFill>
              </a:rPr>
              <a:t>ApplyPilot improves this process by</a:t>
            </a:r>
            <a:r>
              <a:rPr lang="en-US" dirty="0">
                <a:solidFill>
                  <a:schemeClr val="tx1"/>
                </a:solidFill>
              </a:rPr>
              <a:t> automatically collecting applications from </a:t>
            </a:r>
            <a:r>
              <a:rPr lang="en-US" b="1" dirty="0">
                <a:solidFill>
                  <a:schemeClr val="tx1"/>
                </a:solidFill>
              </a:rPr>
              <a:t>Gmail</a:t>
            </a:r>
            <a:r>
              <a:rPr lang="en-US" dirty="0">
                <a:solidFill>
                  <a:schemeClr val="tx1"/>
                </a:solidFill>
              </a:rPr>
              <a:t>, extracting and validating candidate information, scoring applicants with </a:t>
            </a:r>
            <a:r>
              <a:rPr lang="en-US" b="1" dirty="0">
                <a:solidFill>
                  <a:schemeClr val="tx1"/>
                </a:solidFill>
              </a:rPr>
              <a:t>Python</a:t>
            </a:r>
            <a:r>
              <a:rPr lang="en-US" dirty="0">
                <a:solidFill>
                  <a:schemeClr val="tx1"/>
                </a:solidFill>
              </a:rPr>
              <a:t>, checking duplicate emails in </a:t>
            </a:r>
            <a:r>
              <a:rPr lang="en-US" b="1" dirty="0">
                <a:solidFill>
                  <a:schemeClr val="tx1"/>
                </a:solidFill>
              </a:rPr>
              <a:t>MySQL</a:t>
            </a:r>
            <a:r>
              <a:rPr lang="en-US" dirty="0">
                <a:solidFill>
                  <a:schemeClr val="tx1"/>
                </a:solidFill>
              </a:rPr>
              <a:t> and generating a ranked </a:t>
            </a:r>
            <a:r>
              <a:rPr lang="en-US" b="1" dirty="0">
                <a:solidFill>
                  <a:schemeClr val="tx1"/>
                </a:solidFill>
              </a:rPr>
              <a:t>Excel</a:t>
            </a:r>
            <a:r>
              <a:rPr lang="en-US" dirty="0">
                <a:solidFill>
                  <a:schemeClr val="tx1"/>
                </a:solidFill>
              </a:rPr>
              <a:t> report. This allows recruitment staff to focus on reviewing suitable candidates instead of repeating administrative tasks</a:t>
            </a:r>
            <a:r>
              <a:rPr lang="en-US" dirty="0"/>
              <a:t>.</a:t>
            </a:r>
          </a:p>
        </p:txBody>
      </p:sp>
    </p:spTree>
    <p:extLst>
      <p:ext uri="{BB962C8B-B14F-4D97-AF65-F5344CB8AC3E}">
        <p14:creationId xmlns:p14="http://schemas.microsoft.com/office/powerpoint/2010/main" val="4235204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16790" y="164593"/>
            <a:ext cx="6858000" cy="475488"/>
          </a:xfrm>
          <a:prstGeom prst="rect">
            <a:avLst/>
          </a:prstGeom>
          <a:noFill/>
          <a:ln/>
        </p:spPr>
        <p:txBody>
          <a:bodyPr wrap="square" lIns="0" tIns="0" rIns="0" bIns="0" rtlCol="0" anchor="ctr"/>
          <a:lstStyle/>
          <a:p>
            <a:pPr marL="0" indent="0">
              <a:buNone/>
            </a:pPr>
            <a:r>
              <a:rPr lang="en-US" sz="4000" dirty="0">
                <a:solidFill>
                  <a:srgbClr val="111111"/>
                </a:solidFill>
                <a:latin typeface="Aptos Display" pitchFamily="34" charset="0"/>
                <a:ea typeface="Aptos Display" pitchFamily="34" charset="-122"/>
                <a:cs typeface="Aptos Display" pitchFamily="34" charset="-120"/>
              </a:rPr>
              <a:t>Process</a:t>
            </a:r>
            <a:endParaRPr lang="en-US" sz="4000" dirty="0"/>
          </a:p>
        </p:txBody>
      </p:sp>
      <p:sp>
        <p:nvSpPr>
          <p:cNvPr id="4" name="Text 2"/>
          <p:cNvSpPr/>
          <p:nvPr/>
        </p:nvSpPr>
        <p:spPr>
          <a:xfrm>
            <a:off x="516790" y="841249"/>
            <a:ext cx="7772400" cy="256032"/>
          </a:xfrm>
          <a:prstGeom prst="rect">
            <a:avLst/>
          </a:prstGeom>
          <a:noFill/>
          <a:ln/>
        </p:spPr>
        <p:txBody>
          <a:bodyPr wrap="square" lIns="0" tIns="0" rIns="0" bIns="0" rtlCol="0" anchor="ctr"/>
          <a:lstStyle/>
          <a:p>
            <a:pPr marL="0" indent="0">
              <a:buNone/>
            </a:pPr>
            <a:r>
              <a:rPr lang="en-US" sz="2000" dirty="0">
                <a:latin typeface="Aptos" pitchFamily="34" charset="0"/>
                <a:ea typeface="Aptos" pitchFamily="34" charset="-122"/>
                <a:cs typeface="Aptos" pitchFamily="34" charset="-120"/>
              </a:rPr>
              <a:t>How ApplyPilot works — five stages across five applications</a:t>
            </a:r>
            <a:endParaRPr lang="en-US" sz="2000" dirty="0"/>
          </a:p>
        </p:txBody>
      </p:sp>
      <p:sp>
        <p:nvSpPr>
          <p:cNvPr id="5" name="Shape 3"/>
          <p:cNvSpPr/>
          <p:nvPr/>
        </p:nvSpPr>
        <p:spPr>
          <a:xfrm>
            <a:off x="786384" y="1691640"/>
            <a:ext cx="676656" cy="617221"/>
          </a:xfrm>
          <a:prstGeom prst="ellipse">
            <a:avLst/>
          </a:prstGeom>
          <a:solidFill>
            <a:srgbClr val="F7F5F1"/>
          </a:solidFill>
          <a:ln w="15240">
            <a:solidFill>
              <a:srgbClr val="8F7B68"/>
            </a:solidFill>
            <a:prstDash val="solid"/>
          </a:ln>
        </p:spPr>
        <p:txBody>
          <a:bodyPr/>
          <a:lstStyle/>
          <a:p>
            <a:endParaRPr lang="en-US" dirty="0"/>
          </a:p>
        </p:txBody>
      </p:sp>
      <p:sp>
        <p:nvSpPr>
          <p:cNvPr id="6" name="Text 4"/>
          <p:cNvSpPr/>
          <p:nvPr/>
        </p:nvSpPr>
        <p:spPr>
          <a:xfrm>
            <a:off x="877824" y="1892808"/>
            <a:ext cx="566928" cy="201168"/>
          </a:xfrm>
          <a:prstGeom prst="rect">
            <a:avLst/>
          </a:prstGeom>
          <a:noFill/>
          <a:ln/>
        </p:spPr>
        <p:txBody>
          <a:bodyPr wrap="square" lIns="0" tIns="0" rIns="0" bIns="0" rtlCol="0" anchor="ctr"/>
          <a:lstStyle/>
          <a:p>
            <a:pPr marL="0" indent="0" algn="ctr">
              <a:buNone/>
            </a:pPr>
            <a:r>
              <a:rPr lang="en-US" sz="1700" b="1" dirty="0">
                <a:solidFill>
                  <a:srgbClr val="111111"/>
                </a:solidFill>
                <a:latin typeface="Aptos Display" pitchFamily="34" charset="0"/>
                <a:ea typeface="Aptos Display" pitchFamily="34" charset="-122"/>
                <a:cs typeface="Aptos Display" pitchFamily="34" charset="-120"/>
              </a:rPr>
              <a:t>01</a:t>
            </a:r>
            <a:endParaRPr lang="en-US" sz="1700" dirty="0"/>
          </a:p>
        </p:txBody>
      </p:sp>
      <p:sp>
        <p:nvSpPr>
          <p:cNvPr id="7" name="Text 5"/>
          <p:cNvSpPr/>
          <p:nvPr/>
        </p:nvSpPr>
        <p:spPr>
          <a:xfrm>
            <a:off x="1769364" y="1723521"/>
            <a:ext cx="2331720" cy="274320"/>
          </a:xfrm>
          <a:prstGeom prst="rect">
            <a:avLst/>
          </a:prstGeom>
          <a:noFill/>
          <a:ln/>
        </p:spPr>
        <p:txBody>
          <a:bodyPr wrap="square" lIns="0" tIns="0" rIns="0" bIns="0" rtlCol="0" anchor="ctr"/>
          <a:lstStyle/>
          <a:p>
            <a:pPr marL="0" indent="0">
              <a:buNone/>
            </a:pPr>
            <a:r>
              <a:rPr lang="en-US" b="1" dirty="0">
                <a:solidFill>
                  <a:srgbClr val="111111"/>
                </a:solidFill>
                <a:latin typeface="Aptos" pitchFamily="34" charset="0"/>
                <a:ea typeface="Aptos" pitchFamily="34" charset="-122"/>
                <a:cs typeface="Aptos" pitchFamily="34" charset="-120"/>
              </a:rPr>
              <a:t>Collect</a:t>
            </a:r>
            <a:endParaRPr lang="en-US" dirty="0"/>
          </a:p>
        </p:txBody>
      </p:sp>
      <p:sp>
        <p:nvSpPr>
          <p:cNvPr id="8" name="Shape 6"/>
          <p:cNvSpPr/>
          <p:nvPr/>
        </p:nvSpPr>
        <p:spPr>
          <a:xfrm>
            <a:off x="1746504" y="2047770"/>
            <a:ext cx="2542202" cy="35584"/>
          </a:xfrm>
          <a:prstGeom prst="line">
            <a:avLst/>
          </a:prstGeom>
          <a:noFill/>
          <a:ln w="11430">
            <a:solidFill>
              <a:srgbClr val="CDBEAF"/>
            </a:solidFill>
            <a:prstDash val="solid"/>
          </a:ln>
        </p:spPr>
        <p:txBody>
          <a:bodyPr/>
          <a:lstStyle/>
          <a:p>
            <a:endParaRPr lang="en-US"/>
          </a:p>
        </p:txBody>
      </p:sp>
      <p:sp>
        <p:nvSpPr>
          <p:cNvPr id="9" name="Text 7"/>
          <p:cNvSpPr/>
          <p:nvPr/>
        </p:nvSpPr>
        <p:spPr>
          <a:xfrm>
            <a:off x="1769364" y="2093976"/>
            <a:ext cx="2377440" cy="219456"/>
          </a:xfrm>
          <a:prstGeom prst="rect">
            <a:avLst/>
          </a:prstGeom>
          <a:noFill/>
          <a:ln/>
        </p:spPr>
        <p:txBody>
          <a:bodyPr wrap="square" lIns="0" tIns="0" rIns="0" bIns="0" rtlCol="0" anchor="ctr"/>
          <a:lstStyle/>
          <a:p>
            <a:pPr marL="0" indent="0">
              <a:buNone/>
            </a:pPr>
            <a:r>
              <a:rPr lang="en-US" sz="1400" b="1" dirty="0">
                <a:solidFill>
                  <a:srgbClr val="4A3423"/>
                </a:solidFill>
                <a:latin typeface="Aptos" pitchFamily="34" charset="0"/>
                <a:ea typeface="Aptos" pitchFamily="34" charset="-122"/>
                <a:cs typeface="Aptos" pitchFamily="34" charset="-120"/>
              </a:rPr>
              <a:t>Gmail</a:t>
            </a:r>
            <a:endParaRPr lang="en-US" sz="1400" dirty="0"/>
          </a:p>
        </p:txBody>
      </p:sp>
      <p:sp>
        <p:nvSpPr>
          <p:cNvPr id="10" name="Text 8"/>
          <p:cNvSpPr/>
          <p:nvPr/>
        </p:nvSpPr>
        <p:spPr>
          <a:xfrm>
            <a:off x="1769364" y="2489329"/>
            <a:ext cx="2574036" cy="438912"/>
          </a:xfrm>
          <a:prstGeom prst="rect">
            <a:avLst/>
          </a:prstGeom>
          <a:noFill/>
          <a:ln/>
        </p:spPr>
        <p:txBody>
          <a:bodyPr wrap="square" lIns="0" tIns="0" rIns="0" bIns="0" rtlCol="0" anchor="ctr">
            <a:noAutofit/>
          </a:bodyPr>
          <a:lstStyle/>
          <a:p>
            <a:pPr marL="0" indent="0">
              <a:lnSpc>
                <a:spcPct val="150000"/>
              </a:lnSpc>
              <a:buNone/>
            </a:pPr>
            <a:r>
              <a:rPr lang="en-US" sz="1200" dirty="0"/>
              <a:t>Download unread email attachments and marks the email as read.</a:t>
            </a:r>
          </a:p>
        </p:txBody>
      </p:sp>
      <p:sp>
        <p:nvSpPr>
          <p:cNvPr id="11" name="Shape 9"/>
          <p:cNvSpPr/>
          <p:nvPr/>
        </p:nvSpPr>
        <p:spPr>
          <a:xfrm>
            <a:off x="4758774" y="1682072"/>
            <a:ext cx="676656" cy="617221"/>
          </a:xfrm>
          <a:prstGeom prst="ellipse">
            <a:avLst/>
          </a:prstGeom>
          <a:solidFill>
            <a:srgbClr val="F7F5F1"/>
          </a:solidFill>
          <a:ln w="15240">
            <a:solidFill>
              <a:srgbClr val="8F7B68"/>
            </a:solidFill>
            <a:prstDash val="solid"/>
          </a:ln>
        </p:spPr>
        <p:txBody>
          <a:bodyPr/>
          <a:lstStyle/>
          <a:p>
            <a:endParaRPr lang="en-US"/>
          </a:p>
        </p:txBody>
      </p:sp>
      <p:sp>
        <p:nvSpPr>
          <p:cNvPr id="12" name="Text 10"/>
          <p:cNvSpPr/>
          <p:nvPr/>
        </p:nvSpPr>
        <p:spPr>
          <a:xfrm>
            <a:off x="4813638" y="1897328"/>
            <a:ext cx="566928" cy="201168"/>
          </a:xfrm>
          <a:prstGeom prst="rect">
            <a:avLst/>
          </a:prstGeom>
          <a:noFill/>
          <a:ln/>
        </p:spPr>
        <p:txBody>
          <a:bodyPr wrap="square" lIns="0" tIns="0" rIns="0" bIns="0" rtlCol="0" anchor="ctr"/>
          <a:lstStyle/>
          <a:p>
            <a:pPr marL="0" indent="0" algn="ctr">
              <a:buNone/>
            </a:pPr>
            <a:r>
              <a:rPr lang="en-US" sz="1700" b="1" dirty="0">
                <a:solidFill>
                  <a:srgbClr val="111111"/>
                </a:solidFill>
                <a:latin typeface="Aptos Display" pitchFamily="34" charset="0"/>
                <a:ea typeface="Aptos Display" pitchFamily="34" charset="-122"/>
                <a:cs typeface="Aptos Display" pitchFamily="34" charset="-120"/>
              </a:rPr>
              <a:t>02</a:t>
            </a:r>
            <a:endParaRPr lang="en-US" sz="1700" dirty="0"/>
          </a:p>
        </p:txBody>
      </p:sp>
      <p:sp>
        <p:nvSpPr>
          <p:cNvPr id="13" name="Text 11"/>
          <p:cNvSpPr/>
          <p:nvPr/>
        </p:nvSpPr>
        <p:spPr>
          <a:xfrm>
            <a:off x="5633213" y="1725928"/>
            <a:ext cx="2331720" cy="274320"/>
          </a:xfrm>
          <a:prstGeom prst="rect">
            <a:avLst/>
          </a:prstGeom>
          <a:noFill/>
          <a:ln/>
        </p:spPr>
        <p:txBody>
          <a:bodyPr wrap="square" lIns="0" tIns="0" rIns="0" bIns="0" rtlCol="0" anchor="ctr"/>
          <a:lstStyle/>
          <a:p>
            <a:pPr marL="0" indent="0">
              <a:buNone/>
            </a:pPr>
            <a:r>
              <a:rPr lang="en-US" b="1" dirty="0">
                <a:solidFill>
                  <a:srgbClr val="111111"/>
                </a:solidFill>
                <a:latin typeface="Aptos" pitchFamily="34" charset="0"/>
                <a:ea typeface="Aptos" pitchFamily="34" charset="-122"/>
                <a:cs typeface="Aptos" pitchFamily="34" charset="-120"/>
              </a:rPr>
              <a:t>Read</a:t>
            </a:r>
            <a:endParaRPr lang="en-US" dirty="0"/>
          </a:p>
        </p:txBody>
      </p:sp>
      <p:sp>
        <p:nvSpPr>
          <p:cNvPr id="14" name="Shape 12"/>
          <p:cNvSpPr/>
          <p:nvPr/>
        </p:nvSpPr>
        <p:spPr>
          <a:xfrm>
            <a:off x="5650992" y="2027239"/>
            <a:ext cx="2331720" cy="0"/>
          </a:xfrm>
          <a:prstGeom prst="line">
            <a:avLst/>
          </a:prstGeom>
          <a:noFill/>
          <a:ln w="11430">
            <a:solidFill>
              <a:srgbClr val="CDBEAF"/>
            </a:solidFill>
            <a:prstDash val="solid"/>
          </a:ln>
        </p:spPr>
        <p:txBody>
          <a:bodyPr/>
          <a:lstStyle/>
          <a:p>
            <a:endParaRPr lang="en-US" dirty="0"/>
          </a:p>
        </p:txBody>
      </p:sp>
      <p:sp>
        <p:nvSpPr>
          <p:cNvPr id="15" name="Text 13"/>
          <p:cNvSpPr/>
          <p:nvPr/>
        </p:nvSpPr>
        <p:spPr>
          <a:xfrm>
            <a:off x="5637447" y="2107472"/>
            <a:ext cx="2377440" cy="219456"/>
          </a:xfrm>
          <a:prstGeom prst="rect">
            <a:avLst/>
          </a:prstGeom>
          <a:noFill/>
          <a:ln/>
        </p:spPr>
        <p:txBody>
          <a:bodyPr wrap="square" lIns="0" tIns="0" rIns="0" bIns="0" rtlCol="0" anchor="ctr"/>
          <a:lstStyle/>
          <a:p>
            <a:pPr marL="0" indent="0">
              <a:buNone/>
            </a:pPr>
            <a:r>
              <a:rPr lang="en-US" sz="1400" b="1" dirty="0">
                <a:solidFill>
                  <a:srgbClr val="4A3423"/>
                </a:solidFill>
                <a:latin typeface="Aptos" pitchFamily="34" charset="0"/>
                <a:ea typeface="Aptos" pitchFamily="34" charset="-122"/>
                <a:cs typeface="Aptos" pitchFamily="34" charset="-120"/>
              </a:rPr>
              <a:t>PDF / OCR</a:t>
            </a:r>
            <a:endParaRPr lang="en-US" sz="1400" dirty="0"/>
          </a:p>
        </p:txBody>
      </p:sp>
      <p:sp>
        <p:nvSpPr>
          <p:cNvPr id="16" name="Text 14"/>
          <p:cNvSpPr/>
          <p:nvPr/>
        </p:nvSpPr>
        <p:spPr>
          <a:xfrm>
            <a:off x="5650992" y="2489243"/>
            <a:ext cx="2423160" cy="438912"/>
          </a:xfrm>
          <a:prstGeom prst="rect">
            <a:avLst/>
          </a:prstGeom>
          <a:noFill/>
          <a:ln/>
        </p:spPr>
        <p:txBody>
          <a:bodyPr wrap="square" lIns="0" tIns="0" rIns="0" bIns="0" rtlCol="0" anchor="ctr">
            <a:noAutofit/>
          </a:bodyPr>
          <a:lstStyle/>
          <a:p>
            <a:pPr marL="0" indent="0">
              <a:lnSpc>
                <a:spcPct val="150000"/>
              </a:lnSpc>
              <a:buNone/>
            </a:pPr>
            <a:r>
              <a:rPr lang="en-US" sz="1200" dirty="0">
                <a:solidFill>
                  <a:srgbClr val="111111"/>
                </a:solidFill>
                <a:latin typeface="Aptos" pitchFamily="34" charset="0"/>
                <a:ea typeface="Aptos" pitchFamily="34" charset="-122"/>
                <a:cs typeface="Aptos" pitchFamily="34" charset="-120"/>
              </a:rPr>
              <a:t>Read digital PDFs, scanned PDFs and image files.</a:t>
            </a:r>
            <a:endParaRPr lang="en-US" sz="1200" dirty="0"/>
          </a:p>
        </p:txBody>
      </p:sp>
      <p:sp>
        <p:nvSpPr>
          <p:cNvPr id="17" name="Shape 15"/>
          <p:cNvSpPr/>
          <p:nvPr/>
        </p:nvSpPr>
        <p:spPr>
          <a:xfrm>
            <a:off x="8296995" y="1682073"/>
            <a:ext cx="649224" cy="617220"/>
          </a:xfrm>
          <a:prstGeom prst="ellipse">
            <a:avLst/>
          </a:prstGeom>
          <a:solidFill>
            <a:srgbClr val="F7F5F1"/>
          </a:solidFill>
          <a:ln w="15240">
            <a:solidFill>
              <a:srgbClr val="8F7B68"/>
            </a:solidFill>
            <a:prstDash val="solid"/>
          </a:ln>
        </p:spPr>
        <p:txBody>
          <a:bodyPr/>
          <a:lstStyle/>
          <a:p>
            <a:endParaRPr lang="en-US" dirty="0"/>
          </a:p>
        </p:txBody>
      </p:sp>
      <p:sp>
        <p:nvSpPr>
          <p:cNvPr id="18" name="Text 16"/>
          <p:cNvSpPr/>
          <p:nvPr/>
        </p:nvSpPr>
        <p:spPr>
          <a:xfrm>
            <a:off x="8335772" y="1892808"/>
            <a:ext cx="566928" cy="201168"/>
          </a:xfrm>
          <a:prstGeom prst="rect">
            <a:avLst/>
          </a:prstGeom>
          <a:noFill/>
          <a:ln/>
        </p:spPr>
        <p:txBody>
          <a:bodyPr wrap="square" lIns="0" tIns="0" rIns="0" bIns="0" rtlCol="0" anchor="ctr"/>
          <a:lstStyle/>
          <a:p>
            <a:pPr marL="0" indent="0" algn="ctr">
              <a:buNone/>
            </a:pPr>
            <a:r>
              <a:rPr lang="en-US" sz="1700" b="1" dirty="0">
                <a:solidFill>
                  <a:srgbClr val="111111"/>
                </a:solidFill>
                <a:latin typeface="Aptos Display" pitchFamily="34" charset="0"/>
                <a:ea typeface="Aptos Display" pitchFamily="34" charset="-122"/>
                <a:cs typeface="Aptos Display" pitchFamily="34" charset="-120"/>
              </a:rPr>
              <a:t>03</a:t>
            </a:r>
            <a:endParaRPr lang="en-US" sz="1700" dirty="0"/>
          </a:p>
        </p:txBody>
      </p:sp>
      <p:sp>
        <p:nvSpPr>
          <p:cNvPr id="20" name="Shape 18"/>
          <p:cNvSpPr/>
          <p:nvPr/>
        </p:nvSpPr>
        <p:spPr>
          <a:xfrm>
            <a:off x="9152636" y="2009142"/>
            <a:ext cx="2331720" cy="0"/>
          </a:xfrm>
          <a:prstGeom prst="line">
            <a:avLst/>
          </a:prstGeom>
          <a:noFill/>
          <a:ln w="11430">
            <a:solidFill>
              <a:srgbClr val="CDBEAF"/>
            </a:solidFill>
            <a:prstDash val="solid"/>
          </a:ln>
        </p:spPr>
        <p:txBody>
          <a:bodyPr/>
          <a:lstStyle/>
          <a:p>
            <a:endParaRPr lang="en-US"/>
          </a:p>
        </p:txBody>
      </p:sp>
      <p:sp>
        <p:nvSpPr>
          <p:cNvPr id="25" name="Text 23"/>
          <p:cNvSpPr/>
          <p:nvPr/>
        </p:nvSpPr>
        <p:spPr>
          <a:xfrm>
            <a:off x="5633213" y="3729180"/>
            <a:ext cx="2331720" cy="274320"/>
          </a:xfrm>
          <a:prstGeom prst="rect">
            <a:avLst/>
          </a:prstGeom>
          <a:noFill/>
          <a:ln/>
        </p:spPr>
        <p:txBody>
          <a:bodyPr wrap="square" lIns="0" tIns="0" rIns="0" bIns="0" rtlCol="0" anchor="ctr"/>
          <a:lstStyle/>
          <a:p>
            <a:pPr marL="0" indent="0">
              <a:buNone/>
            </a:pPr>
            <a:r>
              <a:rPr lang="en-US" b="1" dirty="0"/>
              <a:t>Report</a:t>
            </a:r>
          </a:p>
        </p:txBody>
      </p:sp>
      <p:sp>
        <p:nvSpPr>
          <p:cNvPr id="27" name="Text 25"/>
          <p:cNvSpPr/>
          <p:nvPr/>
        </p:nvSpPr>
        <p:spPr>
          <a:xfrm>
            <a:off x="9152636" y="2082335"/>
            <a:ext cx="2377440" cy="219456"/>
          </a:xfrm>
          <a:prstGeom prst="rect">
            <a:avLst/>
          </a:prstGeom>
          <a:noFill/>
          <a:ln/>
        </p:spPr>
        <p:txBody>
          <a:bodyPr wrap="square" lIns="0" tIns="0" rIns="0" bIns="0" rtlCol="0" anchor="ctr"/>
          <a:lstStyle/>
          <a:p>
            <a:pPr marL="0" indent="0">
              <a:buNone/>
            </a:pPr>
            <a:r>
              <a:rPr lang="en-US" sz="1400" b="1" dirty="0">
                <a:solidFill>
                  <a:srgbClr val="4A3423"/>
                </a:solidFill>
                <a:latin typeface="Aptos" pitchFamily="34" charset="0"/>
                <a:ea typeface="Aptos" pitchFamily="34" charset="-122"/>
                <a:cs typeface="Aptos" pitchFamily="34" charset="-120"/>
              </a:rPr>
              <a:t>Python</a:t>
            </a:r>
            <a:endParaRPr lang="en-US" sz="1400" dirty="0"/>
          </a:p>
        </p:txBody>
      </p:sp>
      <p:sp>
        <p:nvSpPr>
          <p:cNvPr id="28" name="Text 26"/>
          <p:cNvSpPr/>
          <p:nvPr/>
        </p:nvSpPr>
        <p:spPr>
          <a:xfrm>
            <a:off x="9152636" y="2436962"/>
            <a:ext cx="2423160" cy="438912"/>
          </a:xfrm>
          <a:prstGeom prst="rect">
            <a:avLst/>
          </a:prstGeom>
          <a:noFill/>
          <a:ln/>
        </p:spPr>
        <p:txBody>
          <a:bodyPr wrap="square" lIns="0" tIns="0" rIns="0" bIns="0" rtlCol="0" anchor="ctr">
            <a:noAutofit/>
          </a:bodyPr>
          <a:lstStyle/>
          <a:p>
            <a:pPr marL="0" indent="0">
              <a:lnSpc>
                <a:spcPct val="150000"/>
              </a:lnSpc>
              <a:buNone/>
            </a:pPr>
            <a:r>
              <a:rPr lang="en-US" sz="1200" dirty="0">
                <a:solidFill>
                  <a:srgbClr val="111111"/>
                </a:solidFill>
                <a:latin typeface="Aptos" pitchFamily="34" charset="0"/>
                <a:ea typeface="Aptos" pitchFamily="34" charset="-122"/>
                <a:cs typeface="Aptos" pitchFamily="34" charset="-120"/>
              </a:rPr>
              <a:t>Give each candidate a score and priority level.</a:t>
            </a:r>
            <a:endParaRPr lang="en-US" sz="1200" dirty="0"/>
          </a:p>
        </p:txBody>
      </p:sp>
      <p:sp>
        <p:nvSpPr>
          <p:cNvPr id="29" name="Shape 27"/>
          <p:cNvSpPr/>
          <p:nvPr/>
        </p:nvSpPr>
        <p:spPr>
          <a:xfrm>
            <a:off x="4745058" y="3671564"/>
            <a:ext cx="676656" cy="693035"/>
          </a:xfrm>
          <a:prstGeom prst="ellipse">
            <a:avLst/>
          </a:prstGeom>
          <a:solidFill>
            <a:srgbClr val="F7F5F1"/>
          </a:solidFill>
          <a:ln w="15240">
            <a:solidFill>
              <a:srgbClr val="8F7B68"/>
            </a:solidFill>
            <a:prstDash val="solid"/>
          </a:ln>
        </p:spPr>
        <p:txBody>
          <a:bodyPr/>
          <a:lstStyle/>
          <a:p>
            <a:endParaRPr lang="en-US" dirty="0"/>
          </a:p>
        </p:txBody>
      </p:sp>
      <p:sp>
        <p:nvSpPr>
          <p:cNvPr id="30" name="Text 28"/>
          <p:cNvSpPr/>
          <p:nvPr/>
        </p:nvSpPr>
        <p:spPr>
          <a:xfrm>
            <a:off x="4766394" y="3915198"/>
            <a:ext cx="566928" cy="201168"/>
          </a:xfrm>
          <a:prstGeom prst="rect">
            <a:avLst/>
          </a:prstGeom>
          <a:noFill/>
          <a:ln/>
        </p:spPr>
        <p:txBody>
          <a:bodyPr wrap="square" lIns="0" tIns="0" rIns="0" bIns="0" rtlCol="0" anchor="ctr"/>
          <a:lstStyle/>
          <a:p>
            <a:pPr marL="0" indent="0" algn="ctr">
              <a:buNone/>
            </a:pPr>
            <a:r>
              <a:rPr lang="en-US" sz="1700" b="1" dirty="0">
                <a:solidFill>
                  <a:srgbClr val="111111"/>
                </a:solidFill>
                <a:latin typeface="Aptos Display" pitchFamily="34" charset="0"/>
                <a:ea typeface="Aptos Display" pitchFamily="34" charset="-122"/>
                <a:cs typeface="Aptos Display" pitchFamily="34" charset="-120"/>
              </a:rPr>
              <a:t>05</a:t>
            </a:r>
            <a:endParaRPr lang="en-US" sz="1700" dirty="0"/>
          </a:p>
        </p:txBody>
      </p:sp>
      <p:sp>
        <p:nvSpPr>
          <p:cNvPr id="31" name="Text 29"/>
          <p:cNvSpPr/>
          <p:nvPr/>
        </p:nvSpPr>
        <p:spPr>
          <a:xfrm>
            <a:off x="9152636" y="3729180"/>
            <a:ext cx="2331720" cy="274320"/>
          </a:xfrm>
          <a:prstGeom prst="rect">
            <a:avLst/>
          </a:prstGeom>
          <a:noFill/>
          <a:ln/>
        </p:spPr>
        <p:txBody>
          <a:bodyPr wrap="square" lIns="0" tIns="0" rIns="0" bIns="0" rtlCol="0" anchor="ctr"/>
          <a:lstStyle/>
          <a:p>
            <a:pPr marL="0" indent="0">
              <a:buNone/>
            </a:pPr>
            <a:r>
              <a:rPr lang="en-US" b="1" dirty="0">
                <a:solidFill>
                  <a:srgbClr val="111111"/>
                </a:solidFill>
                <a:latin typeface="Aptos" pitchFamily="34" charset="0"/>
                <a:ea typeface="Aptos" pitchFamily="34" charset="-122"/>
                <a:cs typeface="Aptos" pitchFamily="34" charset="-120"/>
              </a:rPr>
              <a:t>Store &amp; Route</a:t>
            </a:r>
            <a:endParaRPr lang="en-US" dirty="0"/>
          </a:p>
        </p:txBody>
      </p:sp>
      <p:sp>
        <p:nvSpPr>
          <p:cNvPr id="32" name="Shape 30"/>
          <p:cNvSpPr/>
          <p:nvPr/>
        </p:nvSpPr>
        <p:spPr>
          <a:xfrm>
            <a:off x="5650992" y="4041648"/>
            <a:ext cx="2331720" cy="0"/>
          </a:xfrm>
          <a:prstGeom prst="line">
            <a:avLst/>
          </a:prstGeom>
          <a:noFill/>
          <a:ln w="11430">
            <a:solidFill>
              <a:srgbClr val="CDBEAF"/>
            </a:solidFill>
            <a:prstDash val="solid"/>
          </a:ln>
        </p:spPr>
        <p:txBody>
          <a:bodyPr/>
          <a:lstStyle/>
          <a:p>
            <a:endParaRPr lang="en-US"/>
          </a:p>
        </p:txBody>
      </p:sp>
      <p:sp>
        <p:nvSpPr>
          <p:cNvPr id="33" name="Text 31"/>
          <p:cNvSpPr/>
          <p:nvPr/>
        </p:nvSpPr>
        <p:spPr>
          <a:xfrm>
            <a:off x="9152636" y="4098157"/>
            <a:ext cx="2377440" cy="219456"/>
          </a:xfrm>
          <a:prstGeom prst="rect">
            <a:avLst/>
          </a:prstGeom>
          <a:noFill/>
          <a:ln/>
        </p:spPr>
        <p:txBody>
          <a:bodyPr wrap="square" lIns="0" tIns="0" rIns="0" bIns="0" rtlCol="0" anchor="ctr"/>
          <a:lstStyle/>
          <a:p>
            <a:pPr marL="0" indent="0">
              <a:buNone/>
            </a:pPr>
            <a:r>
              <a:rPr lang="en-US" sz="1400" b="1" dirty="0">
                <a:solidFill>
                  <a:srgbClr val="4A3423"/>
                </a:solidFill>
                <a:latin typeface="Aptos" pitchFamily="34" charset="0"/>
                <a:ea typeface="Aptos" pitchFamily="34" charset="-122"/>
                <a:cs typeface="Aptos" pitchFamily="34" charset="-120"/>
              </a:rPr>
              <a:t>MySQL + Folders</a:t>
            </a:r>
            <a:endParaRPr lang="en-US" sz="1400" dirty="0"/>
          </a:p>
        </p:txBody>
      </p:sp>
      <p:sp>
        <p:nvSpPr>
          <p:cNvPr id="34" name="Text 32"/>
          <p:cNvSpPr/>
          <p:nvPr/>
        </p:nvSpPr>
        <p:spPr>
          <a:xfrm>
            <a:off x="9184809" y="4707125"/>
            <a:ext cx="2423160" cy="438912"/>
          </a:xfrm>
          <a:prstGeom prst="rect">
            <a:avLst/>
          </a:prstGeom>
          <a:noFill/>
          <a:ln/>
        </p:spPr>
        <p:txBody>
          <a:bodyPr wrap="square" lIns="0" tIns="0" rIns="0" bIns="0" rtlCol="0" anchor="ctr">
            <a:noAutofit/>
          </a:bodyPr>
          <a:lstStyle/>
          <a:p>
            <a:pPr marL="0" indent="0">
              <a:lnSpc>
                <a:spcPct val="150000"/>
              </a:lnSpc>
              <a:buNone/>
            </a:pPr>
            <a:r>
              <a:rPr lang="en-US" sz="1200" dirty="0"/>
              <a:t>Checks the candidate’s email for duplicates, saves new applicants and moves each résumé to </a:t>
            </a:r>
            <a:r>
              <a:rPr lang="en-US" sz="1200" b="1" dirty="0"/>
              <a:t>Processed, Duplicate or Failed</a:t>
            </a:r>
            <a:r>
              <a:rPr lang="en-US" sz="1200" dirty="0"/>
              <a:t>.</a:t>
            </a:r>
          </a:p>
        </p:txBody>
      </p:sp>
      <p:sp>
        <p:nvSpPr>
          <p:cNvPr id="35" name="Shape 33"/>
          <p:cNvSpPr/>
          <p:nvPr/>
        </p:nvSpPr>
        <p:spPr>
          <a:xfrm>
            <a:off x="8335772" y="3671564"/>
            <a:ext cx="676656" cy="630927"/>
          </a:xfrm>
          <a:prstGeom prst="ellipse">
            <a:avLst/>
          </a:prstGeom>
          <a:solidFill>
            <a:srgbClr val="F7F5F1"/>
          </a:solidFill>
          <a:ln w="15240">
            <a:solidFill>
              <a:srgbClr val="8F7B68"/>
            </a:solidFill>
            <a:prstDash val="solid"/>
          </a:ln>
        </p:spPr>
        <p:txBody>
          <a:bodyPr/>
          <a:lstStyle/>
          <a:p>
            <a:endParaRPr lang="en-US"/>
          </a:p>
        </p:txBody>
      </p:sp>
      <p:sp>
        <p:nvSpPr>
          <p:cNvPr id="36" name="Text 34"/>
          <p:cNvSpPr/>
          <p:nvPr/>
        </p:nvSpPr>
        <p:spPr>
          <a:xfrm>
            <a:off x="8390636" y="3886444"/>
            <a:ext cx="566928" cy="201168"/>
          </a:xfrm>
          <a:prstGeom prst="rect">
            <a:avLst/>
          </a:prstGeom>
          <a:noFill/>
          <a:ln/>
        </p:spPr>
        <p:txBody>
          <a:bodyPr wrap="square" lIns="0" tIns="0" rIns="0" bIns="0" rtlCol="0" anchor="ctr"/>
          <a:lstStyle/>
          <a:p>
            <a:pPr marL="0" indent="0" algn="ctr">
              <a:buNone/>
            </a:pPr>
            <a:r>
              <a:rPr lang="en-US" sz="1700" b="1" dirty="0">
                <a:solidFill>
                  <a:srgbClr val="111111"/>
                </a:solidFill>
                <a:latin typeface="Aptos Display" pitchFamily="34" charset="0"/>
                <a:ea typeface="Aptos Display" pitchFamily="34" charset="-122"/>
                <a:cs typeface="Aptos Display" pitchFamily="34" charset="-120"/>
              </a:rPr>
              <a:t>04</a:t>
            </a:r>
            <a:endParaRPr lang="en-US" sz="1700" dirty="0"/>
          </a:p>
        </p:txBody>
      </p:sp>
      <p:sp>
        <p:nvSpPr>
          <p:cNvPr id="37" name="Text 35"/>
          <p:cNvSpPr/>
          <p:nvPr/>
        </p:nvSpPr>
        <p:spPr>
          <a:xfrm>
            <a:off x="9152636" y="1711963"/>
            <a:ext cx="2331720" cy="274320"/>
          </a:xfrm>
          <a:prstGeom prst="rect">
            <a:avLst/>
          </a:prstGeom>
          <a:noFill/>
          <a:ln/>
        </p:spPr>
        <p:txBody>
          <a:bodyPr wrap="square" lIns="0" tIns="0" rIns="0" bIns="0" rtlCol="0" anchor="ctr"/>
          <a:lstStyle/>
          <a:p>
            <a:pPr marL="0" indent="0">
              <a:buNone/>
            </a:pPr>
            <a:r>
              <a:rPr lang="en-US" b="1" dirty="0"/>
              <a:t>Score</a:t>
            </a:r>
          </a:p>
        </p:txBody>
      </p:sp>
      <p:sp>
        <p:nvSpPr>
          <p:cNvPr id="38" name="Shape 36"/>
          <p:cNvSpPr/>
          <p:nvPr/>
        </p:nvSpPr>
        <p:spPr>
          <a:xfrm>
            <a:off x="9152636" y="4009434"/>
            <a:ext cx="2331720" cy="0"/>
          </a:xfrm>
          <a:prstGeom prst="line">
            <a:avLst/>
          </a:prstGeom>
          <a:noFill/>
          <a:ln w="11430">
            <a:solidFill>
              <a:srgbClr val="CDBEAF"/>
            </a:solidFill>
            <a:prstDash val="solid"/>
          </a:ln>
        </p:spPr>
        <p:txBody>
          <a:bodyPr/>
          <a:lstStyle/>
          <a:p>
            <a:endParaRPr lang="en-US"/>
          </a:p>
        </p:txBody>
      </p:sp>
      <p:sp>
        <p:nvSpPr>
          <p:cNvPr id="39" name="Text 37"/>
          <p:cNvSpPr/>
          <p:nvPr/>
        </p:nvSpPr>
        <p:spPr>
          <a:xfrm>
            <a:off x="5633213" y="4108154"/>
            <a:ext cx="2377440" cy="219456"/>
          </a:xfrm>
          <a:prstGeom prst="rect">
            <a:avLst/>
          </a:prstGeom>
          <a:noFill/>
          <a:ln/>
        </p:spPr>
        <p:txBody>
          <a:bodyPr wrap="square" lIns="0" tIns="0" rIns="0" bIns="0" rtlCol="0" anchor="ctr"/>
          <a:lstStyle/>
          <a:p>
            <a:pPr marL="0" indent="0">
              <a:buNone/>
            </a:pPr>
            <a:r>
              <a:rPr lang="en-US" sz="1400" b="1" dirty="0">
                <a:solidFill>
                  <a:srgbClr val="4A3423"/>
                </a:solidFill>
                <a:latin typeface="Aptos" pitchFamily="34" charset="0"/>
                <a:ea typeface="Aptos" pitchFamily="34" charset="-122"/>
                <a:cs typeface="Aptos" pitchFamily="34" charset="-120"/>
              </a:rPr>
              <a:t>Excel</a:t>
            </a:r>
            <a:endParaRPr lang="en-US" sz="1400" dirty="0"/>
          </a:p>
        </p:txBody>
      </p:sp>
      <p:sp>
        <p:nvSpPr>
          <p:cNvPr id="40" name="Text 38"/>
          <p:cNvSpPr/>
          <p:nvPr/>
        </p:nvSpPr>
        <p:spPr>
          <a:xfrm>
            <a:off x="5655565" y="4657087"/>
            <a:ext cx="2423160" cy="438912"/>
          </a:xfrm>
          <a:prstGeom prst="rect">
            <a:avLst/>
          </a:prstGeom>
          <a:noFill/>
          <a:ln/>
        </p:spPr>
        <p:txBody>
          <a:bodyPr wrap="square" lIns="0" tIns="0" rIns="0" bIns="0" rtlCol="0" anchor="ctr">
            <a:noAutofit/>
          </a:bodyPr>
          <a:lstStyle/>
          <a:p>
            <a:pPr marL="0" indent="0">
              <a:lnSpc>
                <a:spcPct val="150000"/>
              </a:lnSpc>
              <a:buNone/>
            </a:pPr>
            <a:r>
              <a:rPr lang="en-US" sz="1200" dirty="0"/>
              <a:t>Sorts candidates by priority and score, then creates the final ranked candidate report.</a:t>
            </a:r>
          </a:p>
        </p:txBody>
      </p:sp>
      <p:sp>
        <p:nvSpPr>
          <p:cNvPr id="43" name="Text 41"/>
          <p:cNvSpPr/>
          <p:nvPr/>
        </p:nvSpPr>
        <p:spPr>
          <a:xfrm>
            <a:off x="11292840" y="6510528"/>
            <a:ext cx="320040" cy="164592"/>
          </a:xfrm>
          <a:prstGeom prst="rect">
            <a:avLst/>
          </a:prstGeom>
          <a:noFill/>
          <a:ln/>
        </p:spPr>
        <p:txBody>
          <a:bodyPr wrap="square" lIns="0" tIns="0" rIns="0" bIns="0" rtlCol="0" anchor="ctr"/>
          <a:lstStyle/>
          <a:p>
            <a:pPr marL="0" indent="0" algn="r">
              <a:buNone/>
            </a:pPr>
            <a:r>
              <a:rPr lang="en-US" sz="750" dirty="0">
                <a:solidFill>
                  <a:srgbClr val="8A7A6A"/>
                </a:solidFill>
                <a:latin typeface="Aptos" pitchFamily="34" charset="0"/>
                <a:ea typeface="Aptos" pitchFamily="34" charset="-122"/>
                <a:cs typeface="Aptos" pitchFamily="34" charset="-120"/>
              </a:rPr>
              <a:t>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9D4A9-1157-A89B-E6DB-F4700418A444}"/>
              </a:ext>
            </a:extLst>
          </p:cNvPr>
          <p:cNvSpPr>
            <a:spLocks noGrp="1"/>
          </p:cNvSpPr>
          <p:nvPr>
            <p:ph type="title"/>
          </p:nvPr>
        </p:nvSpPr>
        <p:spPr>
          <a:xfrm>
            <a:off x="127000" y="0"/>
            <a:ext cx="10515600" cy="660396"/>
          </a:xfrm>
        </p:spPr>
        <p:txBody>
          <a:bodyPr>
            <a:normAutofit/>
          </a:bodyPr>
          <a:lstStyle/>
          <a:p>
            <a:r>
              <a:rPr lang="en-US" sz="4000" dirty="0"/>
              <a:t>Packages (Project Dependencies) used</a:t>
            </a:r>
            <a:endParaRPr lang="en-SG" sz="4000" dirty="0"/>
          </a:p>
        </p:txBody>
      </p:sp>
      <p:sp>
        <p:nvSpPr>
          <p:cNvPr id="7" name="Text 6">
            <a:extLst>
              <a:ext uri="{FF2B5EF4-FFF2-40B4-BE49-F238E27FC236}">
                <a16:creationId xmlns:a16="http://schemas.microsoft.com/office/drawing/2014/main" id="{47FF670B-77EA-CD44-3D8B-D6F1F3B3CF83}"/>
              </a:ext>
            </a:extLst>
          </p:cNvPr>
          <p:cNvSpPr/>
          <p:nvPr/>
        </p:nvSpPr>
        <p:spPr>
          <a:xfrm>
            <a:off x="6468533" y="1611462"/>
            <a:ext cx="1691640" cy="182880"/>
          </a:xfrm>
          <a:prstGeom prst="rect">
            <a:avLst/>
          </a:prstGeom>
          <a:noFill/>
          <a:ln/>
        </p:spPr>
        <p:txBody>
          <a:bodyPr wrap="square" lIns="0" tIns="0" rIns="0" bIns="0" rtlCol="0" anchor="ctr"/>
          <a:lstStyle/>
          <a:p>
            <a:r>
              <a:rPr lang="en-US" sz="1400" b="1" dirty="0">
                <a:solidFill>
                  <a:srgbClr val="111111"/>
                </a:solidFill>
                <a:latin typeface="Aptos" pitchFamily="34" charset="0"/>
                <a:ea typeface="Aptos" pitchFamily="34" charset="-122"/>
                <a:cs typeface="Aptos" pitchFamily="34" charset="-120"/>
              </a:rPr>
              <a:t>Database</a:t>
            </a:r>
            <a:endParaRPr lang="en-US" sz="1400" dirty="0"/>
          </a:p>
          <a:p>
            <a:pPr marL="0" indent="0">
              <a:buNone/>
            </a:pPr>
            <a:endParaRPr lang="en-US" sz="1400" dirty="0"/>
          </a:p>
        </p:txBody>
      </p:sp>
      <p:sp>
        <p:nvSpPr>
          <p:cNvPr id="8" name="Text 7">
            <a:extLst>
              <a:ext uri="{FF2B5EF4-FFF2-40B4-BE49-F238E27FC236}">
                <a16:creationId xmlns:a16="http://schemas.microsoft.com/office/drawing/2014/main" id="{725C1CBF-6A8B-123C-3D96-4E9F0EE01EA5}"/>
              </a:ext>
            </a:extLst>
          </p:cNvPr>
          <p:cNvSpPr/>
          <p:nvPr/>
        </p:nvSpPr>
        <p:spPr>
          <a:xfrm>
            <a:off x="8419253" y="2402842"/>
            <a:ext cx="3886200" cy="182880"/>
          </a:xfrm>
          <a:prstGeom prst="rect">
            <a:avLst/>
          </a:prstGeom>
          <a:noFill/>
          <a:ln/>
        </p:spPr>
        <p:txBody>
          <a:bodyPr wrap="square" lIns="0" tIns="0" rIns="0" bIns="0" rtlCol="0" anchor="ctr">
            <a:noAutofit/>
          </a:bodyPr>
          <a:lstStyle/>
          <a:p>
            <a:pPr marL="0" indent="0">
              <a:buNone/>
            </a:pPr>
            <a:r>
              <a:rPr lang="en-US" sz="1400" dirty="0">
                <a:solidFill>
                  <a:srgbClr val="111111"/>
                </a:solidFill>
                <a:latin typeface="Aptos" pitchFamily="34" charset="0"/>
                <a:ea typeface="Aptos" pitchFamily="34" charset="-122"/>
                <a:cs typeface="Aptos" pitchFamily="34" charset="-120"/>
              </a:rPr>
              <a:t>Gmail collection and attachments</a:t>
            </a:r>
            <a:endParaRPr lang="en-US" sz="1400" dirty="0"/>
          </a:p>
        </p:txBody>
      </p:sp>
      <p:sp>
        <p:nvSpPr>
          <p:cNvPr id="9" name="Shape 8">
            <a:extLst>
              <a:ext uri="{FF2B5EF4-FFF2-40B4-BE49-F238E27FC236}">
                <a16:creationId xmlns:a16="http://schemas.microsoft.com/office/drawing/2014/main" id="{3CB30A47-E325-C4C1-D745-8721BAC7868B}"/>
              </a:ext>
            </a:extLst>
          </p:cNvPr>
          <p:cNvSpPr/>
          <p:nvPr/>
        </p:nvSpPr>
        <p:spPr>
          <a:xfrm>
            <a:off x="6468533" y="1792224"/>
            <a:ext cx="5532120" cy="0"/>
          </a:xfrm>
          <a:prstGeom prst="line">
            <a:avLst/>
          </a:prstGeom>
          <a:noFill/>
          <a:ln w="6350">
            <a:solidFill>
              <a:srgbClr val="E6DED5"/>
            </a:solidFill>
            <a:prstDash val="solid"/>
          </a:ln>
        </p:spPr>
        <p:txBody>
          <a:bodyPr/>
          <a:lstStyle/>
          <a:p>
            <a:endParaRPr lang="en-US"/>
          </a:p>
        </p:txBody>
      </p:sp>
      <p:sp>
        <p:nvSpPr>
          <p:cNvPr id="10" name="Text 9">
            <a:extLst>
              <a:ext uri="{FF2B5EF4-FFF2-40B4-BE49-F238E27FC236}">
                <a16:creationId xmlns:a16="http://schemas.microsoft.com/office/drawing/2014/main" id="{4DB4A936-CF43-8EBA-B7D0-DCFFC3963A4F}"/>
              </a:ext>
            </a:extLst>
          </p:cNvPr>
          <p:cNvSpPr/>
          <p:nvPr/>
        </p:nvSpPr>
        <p:spPr>
          <a:xfrm>
            <a:off x="6468533" y="3881875"/>
            <a:ext cx="1691640" cy="182880"/>
          </a:xfrm>
          <a:prstGeom prst="rect">
            <a:avLst/>
          </a:prstGeom>
          <a:noFill/>
          <a:ln/>
        </p:spPr>
        <p:txBody>
          <a:bodyPr wrap="square" lIns="0" tIns="0" rIns="0" bIns="0" rtlCol="0" anchor="ctr"/>
          <a:lstStyle/>
          <a:p>
            <a:pPr marL="0" indent="0">
              <a:buNone/>
            </a:pPr>
            <a:r>
              <a:rPr lang="en-US" sz="1400" b="1" dirty="0">
                <a:solidFill>
                  <a:srgbClr val="111111"/>
                </a:solidFill>
                <a:latin typeface="Aptos" pitchFamily="34" charset="0"/>
                <a:ea typeface="Aptos" pitchFamily="34" charset="-122"/>
                <a:cs typeface="Aptos" pitchFamily="34" charset="-120"/>
              </a:rPr>
              <a:t>PDF</a:t>
            </a:r>
            <a:endParaRPr lang="en-US" sz="1400" dirty="0"/>
          </a:p>
        </p:txBody>
      </p:sp>
      <p:sp>
        <p:nvSpPr>
          <p:cNvPr id="11" name="Text 10">
            <a:extLst>
              <a:ext uri="{FF2B5EF4-FFF2-40B4-BE49-F238E27FC236}">
                <a16:creationId xmlns:a16="http://schemas.microsoft.com/office/drawing/2014/main" id="{749A4407-52B1-F358-52E8-81FC72FF92E3}"/>
              </a:ext>
            </a:extLst>
          </p:cNvPr>
          <p:cNvSpPr/>
          <p:nvPr/>
        </p:nvSpPr>
        <p:spPr>
          <a:xfrm>
            <a:off x="8419253" y="3833548"/>
            <a:ext cx="3886200" cy="182880"/>
          </a:xfrm>
          <a:prstGeom prst="rect">
            <a:avLst/>
          </a:prstGeom>
          <a:noFill/>
          <a:ln/>
        </p:spPr>
        <p:txBody>
          <a:bodyPr wrap="square" lIns="0" tIns="0" rIns="0" bIns="0" rtlCol="0" anchor="ctr">
            <a:noAutofit/>
          </a:bodyPr>
          <a:lstStyle/>
          <a:p>
            <a:pPr marL="0" indent="0">
              <a:buNone/>
            </a:pPr>
            <a:r>
              <a:rPr lang="en-US" sz="1400" dirty="0">
                <a:solidFill>
                  <a:srgbClr val="111111"/>
                </a:solidFill>
                <a:latin typeface="Aptos" pitchFamily="34" charset="0"/>
                <a:ea typeface="Aptos" pitchFamily="34" charset="-122"/>
                <a:cs typeface="Aptos" pitchFamily="34" charset="-120"/>
              </a:rPr>
              <a:t>Digital résumé text reading</a:t>
            </a:r>
            <a:endParaRPr lang="en-US" sz="1400" dirty="0"/>
          </a:p>
        </p:txBody>
      </p:sp>
      <p:sp>
        <p:nvSpPr>
          <p:cNvPr id="12" name="Shape 11">
            <a:extLst>
              <a:ext uri="{FF2B5EF4-FFF2-40B4-BE49-F238E27FC236}">
                <a16:creationId xmlns:a16="http://schemas.microsoft.com/office/drawing/2014/main" id="{0C34F86F-37A7-BB23-02B9-F9A24848E624}"/>
              </a:ext>
            </a:extLst>
          </p:cNvPr>
          <p:cNvSpPr/>
          <p:nvPr/>
        </p:nvSpPr>
        <p:spPr>
          <a:xfrm>
            <a:off x="6468533" y="2267712"/>
            <a:ext cx="5532120" cy="0"/>
          </a:xfrm>
          <a:prstGeom prst="line">
            <a:avLst/>
          </a:prstGeom>
          <a:noFill/>
          <a:ln w="6350">
            <a:solidFill>
              <a:srgbClr val="E6DED5"/>
            </a:solidFill>
            <a:prstDash val="solid"/>
          </a:ln>
        </p:spPr>
        <p:txBody>
          <a:bodyPr/>
          <a:lstStyle/>
          <a:p>
            <a:endParaRPr lang="en-US"/>
          </a:p>
        </p:txBody>
      </p:sp>
      <p:sp>
        <p:nvSpPr>
          <p:cNvPr id="13" name="Text 12">
            <a:extLst>
              <a:ext uri="{FF2B5EF4-FFF2-40B4-BE49-F238E27FC236}">
                <a16:creationId xmlns:a16="http://schemas.microsoft.com/office/drawing/2014/main" id="{1369FA21-FD63-AFCD-FBB0-BB9A2A9B3AE8}"/>
              </a:ext>
            </a:extLst>
          </p:cNvPr>
          <p:cNvSpPr/>
          <p:nvPr/>
        </p:nvSpPr>
        <p:spPr>
          <a:xfrm>
            <a:off x="6468533" y="3340187"/>
            <a:ext cx="1691640" cy="182880"/>
          </a:xfrm>
          <a:prstGeom prst="rect">
            <a:avLst/>
          </a:prstGeom>
          <a:noFill/>
          <a:ln/>
        </p:spPr>
        <p:txBody>
          <a:bodyPr wrap="square" lIns="0" tIns="0" rIns="0" bIns="0" rtlCol="0" anchor="ctr"/>
          <a:lstStyle/>
          <a:p>
            <a:pPr marL="0" indent="0">
              <a:buNone/>
            </a:pPr>
            <a:r>
              <a:rPr lang="en-US" sz="1400" b="1" dirty="0">
                <a:solidFill>
                  <a:srgbClr val="111111"/>
                </a:solidFill>
                <a:latin typeface="Aptos" pitchFamily="34" charset="0"/>
                <a:ea typeface="Aptos" pitchFamily="34" charset="-122"/>
                <a:cs typeface="Aptos" pitchFamily="34" charset="-120"/>
              </a:rPr>
              <a:t>OCR</a:t>
            </a:r>
            <a:endParaRPr lang="en-US" sz="1400" dirty="0"/>
          </a:p>
        </p:txBody>
      </p:sp>
      <p:sp>
        <p:nvSpPr>
          <p:cNvPr id="14" name="Text 13">
            <a:extLst>
              <a:ext uri="{FF2B5EF4-FFF2-40B4-BE49-F238E27FC236}">
                <a16:creationId xmlns:a16="http://schemas.microsoft.com/office/drawing/2014/main" id="{DF4DFCA9-DC42-2F37-23C5-01334219AA76}"/>
              </a:ext>
            </a:extLst>
          </p:cNvPr>
          <p:cNvSpPr/>
          <p:nvPr/>
        </p:nvSpPr>
        <p:spPr>
          <a:xfrm>
            <a:off x="8419253" y="3361348"/>
            <a:ext cx="3886200" cy="182880"/>
          </a:xfrm>
          <a:prstGeom prst="rect">
            <a:avLst/>
          </a:prstGeom>
          <a:noFill/>
          <a:ln/>
        </p:spPr>
        <p:txBody>
          <a:bodyPr wrap="square" lIns="0" tIns="0" rIns="0" bIns="0" rtlCol="0" anchor="ctr">
            <a:noAutofit/>
          </a:bodyPr>
          <a:lstStyle/>
          <a:p>
            <a:pPr marL="0" indent="0">
              <a:buNone/>
            </a:pPr>
            <a:r>
              <a:rPr lang="en-US" sz="1400" dirty="0">
                <a:solidFill>
                  <a:srgbClr val="111111"/>
                </a:solidFill>
                <a:latin typeface="Aptos" pitchFamily="34" charset="0"/>
                <a:ea typeface="Aptos" pitchFamily="34" charset="-122"/>
                <a:cs typeface="Aptos" pitchFamily="34" charset="-120"/>
              </a:rPr>
              <a:t>Scanned PDF / image text reading</a:t>
            </a:r>
            <a:endParaRPr lang="en-US" sz="1400" dirty="0"/>
          </a:p>
        </p:txBody>
      </p:sp>
      <p:sp>
        <p:nvSpPr>
          <p:cNvPr id="15" name="Shape 14">
            <a:extLst>
              <a:ext uri="{FF2B5EF4-FFF2-40B4-BE49-F238E27FC236}">
                <a16:creationId xmlns:a16="http://schemas.microsoft.com/office/drawing/2014/main" id="{3C23F501-5996-3401-1886-CBE603A742C5}"/>
              </a:ext>
            </a:extLst>
          </p:cNvPr>
          <p:cNvSpPr/>
          <p:nvPr/>
        </p:nvSpPr>
        <p:spPr>
          <a:xfrm>
            <a:off x="6468533" y="2743200"/>
            <a:ext cx="5532120" cy="0"/>
          </a:xfrm>
          <a:prstGeom prst="line">
            <a:avLst/>
          </a:prstGeom>
          <a:noFill/>
          <a:ln w="6350">
            <a:solidFill>
              <a:srgbClr val="E6DED5"/>
            </a:solidFill>
            <a:prstDash val="solid"/>
          </a:ln>
        </p:spPr>
        <p:txBody>
          <a:bodyPr/>
          <a:lstStyle/>
          <a:p>
            <a:endParaRPr lang="en-US"/>
          </a:p>
        </p:txBody>
      </p:sp>
      <p:sp>
        <p:nvSpPr>
          <p:cNvPr id="16" name="Text 15">
            <a:extLst>
              <a:ext uri="{FF2B5EF4-FFF2-40B4-BE49-F238E27FC236}">
                <a16:creationId xmlns:a16="http://schemas.microsoft.com/office/drawing/2014/main" id="{97C0122E-8C7E-6FB3-1EB5-C3DD82BD87FA}"/>
              </a:ext>
            </a:extLst>
          </p:cNvPr>
          <p:cNvSpPr/>
          <p:nvPr/>
        </p:nvSpPr>
        <p:spPr>
          <a:xfrm>
            <a:off x="6468533" y="2489876"/>
            <a:ext cx="1691640" cy="182880"/>
          </a:xfrm>
          <a:prstGeom prst="rect">
            <a:avLst/>
          </a:prstGeom>
          <a:noFill/>
          <a:ln/>
        </p:spPr>
        <p:txBody>
          <a:bodyPr wrap="square" lIns="0" tIns="0" rIns="0" bIns="0" rtlCol="0" anchor="ctr"/>
          <a:lstStyle/>
          <a:p>
            <a:r>
              <a:rPr lang="en-US" sz="1400" b="1" dirty="0">
                <a:solidFill>
                  <a:srgbClr val="111111"/>
                </a:solidFill>
                <a:latin typeface="Aptos" pitchFamily="34" charset="0"/>
                <a:ea typeface="Aptos" pitchFamily="34" charset="-122"/>
                <a:cs typeface="Aptos" pitchFamily="34" charset="-120"/>
              </a:rPr>
              <a:t>GSuite</a:t>
            </a:r>
            <a:endParaRPr lang="en-US" sz="1400" dirty="0"/>
          </a:p>
          <a:p>
            <a:pPr marL="0" indent="0">
              <a:buNone/>
            </a:pPr>
            <a:endParaRPr lang="en-US" sz="1400" dirty="0"/>
          </a:p>
        </p:txBody>
      </p:sp>
      <p:sp>
        <p:nvSpPr>
          <p:cNvPr id="17" name="Text 16">
            <a:extLst>
              <a:ext uri="{FF2B5EF4-FFF2-40B4-BE49-F238E27FC236}">
                <a16:creationId xmlns:a16="http://schemas.microsoft.com/office/drawing/2014/main" id="{4EEADC54-FE23-F8A3-B8EF-E3FAAB44E7BA}"/>
              </a:ext>
            </a:extLst>
          </p:cNvPr>
          <p:cNvSpPr/>
          <p:nvPr/>
        </p:nvSpPr>
        <p:spPr>
          <a:xfrm>
            <a:off x="8419253" y="1512792"/>
            <a:ext cx="3886200" cy="182880"/>
          </a:xfrm>
          <a:prstGeom prst="rect">
            <a:avLst/>
          </a:prstGeom>
          <a:noFill/>
          <a:ln/>
        </p:spPr>
        <p:txBody>
          <a:bodyPr wrap="square" lIns="0" tIns="0" rIns="0" bIns="0" rtlCol="0" anchor="ctr">
            <a:noAutofit/>
          </a:bodyPr>
          <a:lstStyle/>
          <a:p>
            <a:pPr marL="0" indent="0">
              <a:buNone/>
            </a:pPr>
            <a:r>
              <a:rPr lang="en-US" sz="1400" dirty="0">
                <a:solidFill>
                  <a:srgbClr val="111111"/>
                </a:solidFill>
                <a:latin typeface="Aptos" pitchFamily="34" charset="0"/>
                <a:ea typeface="Aptos" pitchFamily="34" charset="-122"/>
                <a:cs typeface="Aptos" pitchFamily="34" charset="-120"/>
              </a:rPr>
              <a:t>MySQL duplicate check and insert</a:t>
            </a:r>
            <a:endParaRPr lang="en-US" sz="1400" dirty="0"/>
          </a:p>
        </p:txBody>
      </p:sp>
      <p:sp>
        <p:nvSpPr>
          <p:cNvPr id="18" name="Shape 17">
            <a:extLst>
              <a:ext uri="{FF2B5EF4-FFF2-40B4-BE49-F238E27FC236}">
                <a16:creationId xmlns:a16="http://schemas.microsoft.com/office/drawing/2014/main" id="{D15BF994-2F2F-62E5-1352-2D741E7B8863}"/>
              </a:ext>
            </a:extLst>
          </p:cNvPr>
          <p:cNvSpPr/>
          <p:nvPr/>
        </p:nvSpPr>
        <p:spPr>
          <a:xfrm>
            <a:off x="6468533" y="3188208"/>
            <a:ext cx="5532120" cy="0"/>
          </a:xfrm>
          <a:prstGeom prst="line">
            <a:avLst/>
          </a:prstGeom>
          <a:noFill/>
          <a:ln w="6350">
            <a:solidFill>
              <a:srgbClr val="E6DED5"/>
            </a:solidFill>
            <a:prstDash val="solid"/>
          </a:ln>
        </p:spPr>
        <p:txBody>
          <a:bodyPr/>
          <a:lstStyle/>
          <a:p>
            <a:endParaRPr lang="en-US"/>
          </a:p>
        </p:txBody>
      </p:sp>
      <p:sp>
        <p:nvSpPr>
          <p:cNvPr id="19" name="Text 18">
            <a:extLst>
              <a:ext uri="{FF2B5EF4-FFF2-40B4-BE49-F238E27FC236}">
                <a16:creationId xmlns:a16="http://schemas.microsoft.com/office/drawing/2014/main" id="{18D137A4-2F95-B577-3A7E-DD2D26122ED1}"/>
              </a:ext>
            </a:extLst>
          </p:cNvPr>
          <p:cNvSpPr/>
          <p:nvPr/>
        </p:nvSpPr>
        <p:spPr>
          <a:xfrm>
            <a:off x="6468533" y="1936411"/>
            <a:ext cx="1691640" cy="182880"/>
          </a:xfrm>
          <a:prstGeom prst="rect">
            <a:avLst/>
          </a:prstGeom>
          <a:noFill/>
          <a:ln/>
        </p:spPr>
        <p:txBody>
          <a:bodyPr wrap="square" lIns="0" tIns="0" rIns="0" bIns="0" rtlCol="0" anchor="ctr"/>
          <a:lstStyle/>
          <a:p>
            <a:pPr marL="0" indent="0">
              <a:buNone/>
            </a:pPr>
            <a:r>
              <a:rPr lang="en-US" sz="1400" b="1" dirty="0">
                <a:solidFill>
                  <a:srgbClr val="111111"/>
                </a:solidFill>
                <a:latin typeface="Aptos" pitchFamily="34" charset="0"/>
                <a:ea typeface="Aptos" pitchFamily="34" charset="-122"/>
                <a:cs typeface="Aptos" pitchFamily="34" charset="-120"/>
              </a:rPr>
              <a:t>Excel</a:t>
            </a:r>
            <a:endParaRPr lang="en-US" sz="1400" dirty="0"/>
          </a:p>
        </p:txBody>
      </p:sp>
      <p:sp>
        <p:nvSpPr>
          <p:cNvPr id="20" name="Text 19">
            <a:extLst>
              <a:ext uri="{FF2B5EF4-FFF2-40B4-BE49-F238E27FC236}">
                <a16:creationId xmlns:a16="http://schemas.microsoft.com/office/drawing/2014/main" id="{5C5A50B0-BC7D-C9BD-4FBA-1779A7A16D72}"/>
              </a:ext>
            </a:extLst>
          </p:cNvPr>
          <p:cNvSpPr/>
          <p:nvPr/>
        </p:nvSpPr>
        <p:spPr>
          <a:xfrm>
            <a:off x="8419253" y="1935988"/>
            <a:ext cx="3886200" cy="182880"/>
          </a:xfrm>
          <a:prstGeom prst="rect">
            <a:avLst/>
          </a:prstGeom>
          <a:noFill/>
          <a:ln/>
        </p:spPr>
        <p:txBody>
          <a:bodyPr wrap="square" lIns="0" tIns="0" rIns="0" bIns="0" rtlCol="0" anchor="ctr">
            <a:noAutofit/>
          </a:bodyPr>
          <a:lstStyle/>
          <a:p>
            <a:pPr marL="0" indent="0">
              <a:buNone/>
            </a:pPr>
            <a:r>
              <a:rPr lang="en-US" sz="1400" dirty="0">
                <a:solidFill>
                  <a:srgbClr val="111111"/>
                </a:solidFill>
                <a:latin typeface="Aptos" pitchFamily="34" charset="0"/>
                <a:ea typeface="Aptos" pitchFamily="34" charset="-122"/>
                <a:cs typeface="Aptos" pitchFamily="34" charset="-120"/>
              </a:rPr>
              <a:t>Ranked candidate workbook</a:t>
            </a:r>
            <a:endParaRPr lang="en-US" sz="1400" dirty="0"/>
          </a:p>
        </p:txBody>
      </p:sp>
      <p:sp>
        <p:nvSpPr>
          <p:cNvPr id="21" name="Shape 20">
            <a:extLst>
              <a:ext uri="{FF2B5EF4-FFF2-40B4-BE49-F238E27FC236}">
                <a16:creationId xmlns:a16="http://schemas.microsoft.com/office/drawing/2014/main" id="{A87EED2D-5B07-6B05-41A7-C0539320342E}"/>
              </a:ext>
            </a:extLst>
          </p:cNvPr>
          <p:cNvSpPr/>
          <p:nvPr/>
        </p:nvSpPr>
        <p:spPr>
          <a:xfrm>
            <a:off x="6468533" y="3694176"/>
            <a:ext cx="5532120" cy="0"/>
          </a:xfrm>
          <a:prstGeom prst="line">
            <a:avLst/>
          </a:prstGeom>
          <a:noFill/>
          <a:ln w="6350">
            <a:solidFill>
              <a:srgbClr val="E6DED5"/>
            </a:solidFill>
            <a:prstDash val="solid"/>
          </a:ln>
        </p:spPr>
        <p:txBody>
          <a:bodyPr/>
          <a:lstStyle/>
          <a:p>
            <a:endParaRPr lang="en-US"/>
          </a:p>
        </p:txBody>
      </p:sp>
      <p:sp>
        <p:nvSpPr>
          <p:cNvPr id="22" name="Text 21">
            <a:extLst>
              <a:ext uri="{FF2B5EF4-FFF2-40B4-BE49-F238E27FC236}">
                <a16:creationId xmlns:a16="http://schemas.microsoft.com/office/drawing/2014/main" id="{2A7484BA-ACA3-6CFC-A8A6-B5E0AAC31D64}"/>
              </a:ext>
            </a:extLst>
          </p:cNvPr>
          <p:cNvSpPr/>
          <p:nvPr/>
        </p:nvSpPr>
        <p:spPr>
          <a:xfrm>
            <a:off x="6468533" y="4322901"/>
            <a:ext cx="1691640" cy="182880"/>
          </a:xfrm>
          <a:prstGeom prst="rect">
            <a:avLst/>
          </a:prstGeom>
          <a:noFill/>
          <a:ln/>
        </p:spPr>
        <p:txBody>
          <a:bodyPr wrap="square" lIns="0" tIns="0" rIns="0" bIns="0" rtlCol="0" anchor="ctr"/>
          <a:lstStyle/>
          <a:p>
            <a:pPr marL="0" indent="0">
              <a:buNone/>
            </a:pPr>
            <a:r>
              <a:rPr lang="en-US" sz="1400" b="1" dirty="0">
                <a:solidFill>
                  <a:srgbClr val="111111"/>
                </a:solidFill>
                <a:latin typeface="Aptos" pitchFamily="34" charset="0"/>
                <a:ea typeface="Aptos" pitchFamily="34" charset="-122"/>
                <a:cs typeface="Aptos" pitchFamily="34" charset="-120"/>
              </a:rPr>
              <a:t>System</a:t>
            </a:r>
            <a:endParaRPr lang="en-US" sz="1400" dirty="0"/>
          </a:p>
        </p:txBody>
      </p:sp>
      <p:sp>
        <p:nvSpPr>
          <p:cNvPr id="23" name="Text 22">
            <a:extLst>
              <a:ext uri="{FF2B5EF4-FFF2-40B4-BE49-F238E27FC236}">
                <a16:creationId xmlns:a16="http://schemas.microsoft.com/office/drawing/2014/main" id="{8BD47D1D-0604-6B53-E80C-E11B34F31A43}"/>
              </a:ext>
            </a:extLst>
          </p:cNvPr>
          <p:cNvSpPr/>
          <p:nvPr/>
        </p:nvSpPr>
        <p:spPr>
          <a:xfrm>
            <a:off x="8419253" y="4315968"/>
            <a:ext cx="3886200" cy="182880"/>
          </a:xfrm>
          <a:prstGeom prst="rect">
            <a:avLst/>
          </a:prstGeom>
          <a:noFill/>
          <a:ln/>
        </p:spPr>
        <p:txBody>
          <a:bodyPr wrap="square" lIns="0" tIns="0" rIns="0" bIns="0" rtlCol="0" anchor="ctr">
            <a:noAutofit/>
          </a:bodyPr>
          <a:lstStyle/>
          <a:p>
            <a:pPr marL="0" indent="0">
              <a:buNone/>
            </a:pPr>
            <a:r>
              <a:rPr lang="en-US" sz="1400" dirty="0">
                <a:solidFill>
                  <a:srgbClr val="111111"/>
                </a:solidFill>
                <a:latin typeface="Aptos" pitchFamily="34" charset="0"/>
                <a:ea typeface="Aptos" pitchFamily="34" charset="-122"/>
                <a:cs typeface="Aptos" pitchFamily="34" charset="-120"/>
              </a:rPr>
              <a:t>If, Assign, Try Catch, logging and file moving</a:t>
            </a:r>
            <a:endParaRPr lang="en-US" sz="1400" dirty="0"/>
          </a:p>
        </p:txBody>
      </p:sp>
      <p:sp>
        <p:nvSpPr>
          <p:cNvPr id="24" name="Shape 23">
            <a:extLst>
              <a:ext uri="{FF2B5EF4-FFF2-40B4-BE49-F238E27FC236}">
                <a16:creationId xmlns:a16="http://schemas.microsoft.com/office/drawing/2014/main" id="{1943D85F-0F90-3B0B-EC32-3415A1F3AE7D}"/>
              </a:ext>
            </a:extLst>
          </p:cNvPr>
          <p:cNvSpPr/>
          <p:nvPr/>
        </p:nvSpPr>
        <p:spPr>
          <a:xfrm>
            <a:off x="6468533" y="4169664"/>
            <a:ext cx="5532120" cy="0"/>
          </a:xfrm>
          <a:prstGeom prst="line">
            <a:avLst/>
          </a:prstGeom>
          <a:noFill/>
          <a:ln w="6350">
            <a:solidFill>
              <a:srgbClr val="E6DED5"/>
            </a:solidFill>
            <a:prstDash val="solid"/>
          </a:ln>
        </p:spPr>
        <p:txBody>
          <a:bodyPr/>
          <a:lstStyle/>
          <a:p>
            <a:endParaRPr lang="en-US"/>
          </a:p>
        </p:txBody>
      </p:sp>
      <p:sp>
        <p:nvSpPr>
          <p:cNvPr id="25" name="Text 24">
            <a:extLst>
              <a:ext uri="{FF2B5EF4-FFF2-40B4-BE49-F238E27FC236}">
                <a16:creationId xmlns:a16="http://schemas.microsoft.com/office/drawing/2014/main" id="{8C7E5DC1-BBD5-8E49-7AA5-41F1DD9988D9}"/>
              </a:ext>
            </a:extLst>
          </p:cNvPr>
          <p:cNvSpPr/>
          <p:nvPr/>
        </p:nvSpPr>
        <p:spPr>
          <a:xfrm>
            <a:off x="6468533" y="2887810"/>
            <a:ext cx="1691640" cy="182880"/>
          </a:xfrm>
          <a:prstGeom prst="rect">
            <a:avLst/>
          </a:prstGeom>
          <a:noFill/>
          <a:ln/>
        </p:spPr>
        <p:txBody>
          <a:bodyPr wrap="square" lIns="0" tIns="0" rIns="0" bIns="0" rtlCol="0" anchor="ctr"/>
          <a:lstStyle/>
          <a:p>
            <a:pPr marL="0" indent="0">
              <a:buNone/>
            </a:pPr>
            <a:r>
              <a:rPr lang="en-US" sz="1400" b="1" dirty="0">
                <a:solidFill>
                  <a:srgbClr val="111111"/>
                </a:solidFill>
                <a:latin typeface="Aptos" pitchFamily="34" charset="0"/>
                <a:ea typeface="Aptos" pitchFamily="34" charset="-122"/>
                <a:cs typeface="Aptos" pitchFamily="34" charset="-120"/>
              </a:rPr>
              <a:t>Integration Service</a:t>
            </a:r>
            <a:endParaRPr lang="en-US" sz="1400" dirty="0"/>
          </a:p>
        </p:txBody>
      </p:sp>
      <p:sp>
        <p:nvSpPr>
          <p:cNvPr id="26" name="Text 25">
            <a:extLst>
              <a:ext uri="{FF2B5EF4-FFF2-40B4-BE49-F238E27FC236}">
                <a16:creationId xmlns:a16="http://schemas.microsoft.com/office/drawing/2014/main" id="{11ABFDE3-7C3A-3DBB-D771-0E97D0364923}"/>
              </a:ext>
            </a:extLst>
          </p:cNvPr>
          <p:cNvSpPr/>
          <p:nvPr/>
        </p:nvSpPr>
        <p:spPr>
          <a:xfrm>
            <a:off x="8419253" y="2869696"/>
            <a:ext cx="3886200" cy="182880"/>
          </a:xfrm>
          <a:prstGeom prst="rect">
            <a:avLst/>
          </a:prstGeom>
          <a:noFill/>
          <a:ln/>
        </p:spPr>
        <p:txBody>
          <a:bodyPr wrap="square" lIns="0" tIns="0" rIns="0" bIns="0" rtlCol="0" anchor="ctr">
            <a:noAutofit/>
          </a:bodyPr>
          <a:lstStyle/>
          <a:p>
            <a:pPr marL="0" indent="0">
              <a:buNone/>
            </a:pPr>
            <a:r>
              <a:rPr lang="en-US" sz="1400" dirty="0">
                <a:solidFill>
                  <a:srgbClr val="111111"/>
                </a:solidFill>
                <a:latin typeface="Aptos" pitchFamily="34" charset="0"/>
                <a:ea typeface="Aptos" pitchFamily="34" charset="-122"/>
                <a:cs typeface="Aptos" pitchFamily="34" charset="-120"/>
              </a:rPr>
              <a:t>Supports Google Workspace connection</a:t>
            </a:r>
            <a:endParaRPr lang="en-US" sz="1400" dirty="0"/>
          </a:p>
        </p:txBody>
      </p:sp>
      <p:sp>
        <p:nvSpPr>
          <p:cNvPr id="27" name="Shape 26">
            <a:extLst>
              <a:ext uri="{FF2B5EF4-FFF2-40B4-BE49-F238E27FC236}">
                <a16:creationId xmlns:a16="http://schemas.microsoft.com/office/drawing/2014/main" id="{04B6CD7F-8262-E2E0-294A-D9CF6CDE95AE}"/>
              </a:ext>
            </a:extLst>
          </p:cNvPr>
          <p:cNvSpPr/>
          <p:nvPr/>
        </p:nvSpPr>
        <p:spPr>
          <a:xfrm>
            <a:off x="6468533" y="4645152"/>
            <a:ext cx="5532120" cy="0"/>
          </a:xfrm>
          <a:prstGeom prst="line">
            <a:avLst/>
          </a:prstGeom>
          <a:noFill/>
          <a:ln w="6350">
            <a:solidFill>
              <a:srgbClr val="E6DED5"/>
            </a:solidFill>
            <a:prstDash val="solid"/>
          </a:ln>
        </p:spPr>
        <p:txBody>
          <a:bodyPr/>
          <a:lstStyle/>
          <a:p>
            <a:endParaRPr lang="en-US"/>
          </a:p>
        </p:txBody>
      </p:sp>
      <p:sp>
        <p:nvSpPr>
          <p:cNvPr id="28" name="Text 27">
            <a:extLst>
              <a:ext uri="{FF2B5EF4-FFF2-40B4-BE49-F238E27FC236}">
                <a16:creationId xmlns:a16="http://schemas.microsoft.com/office/drawing/2014/main" id="{2379C75A-76EC-60B1-1A77-F7A79B9AEDF9}"/>
              </a:ext>
            </a:extLst>
          </p:cNvPr>
          <p:cNvSpPr/>
          <p:nvPr/>
        </p:nvSpPr>
        <p:spPr>
          <a:xfrm>
            <a:off x="6468533" y="4809744"/>
            <a:ext cx="1691640" cy="182880"/>
          </a:xfrm>
          <a:prstGeom prst="rect">
            <a:avLst/>
          </a:prstGeom>
          <a:noFill/>
          <a:ln/>
        </p:spPr>
        <p:txBody>
          <a:bodyPr wrap="square" lIns="0" tIns="0" rIns="0" bIns="0" rtlCol="0" anchor="ctr"/>
          <a:lstStyle/>
          <a:p>
            <a:pPr marL="0" indent="0">
              <a:buNone/>
            </a:pPr>
            <a:r>
              <a:rPr lang="en-US" sz="1400" b="1" dirty="0">
                <a:solidFill>
                  <a:srgbClr val="111111"/>
                </a:solidFill>
                <a:latin typeface="Aptos" pitchFamily="34" charset="0"/>
                <a:ea typeface="Aptos" pitchFamily="34" charset="-122"/>
                <a:cs typeface="Aptos" pitchFamily="34" charset="-120"/>
              </a:rPr>
              <a:t>UI Automation</a:t>
            </a:r>
            <a:endParaRPr lang="en-US" sz="1400" dirty="0"/>
          </a:p>
        </p:txBody>
      </p:sp>
      <p:sp>
        <p:nvSpPr>
          <p:cNvPr id="29" name="Text 28">
            <a:extLst>
              <a:ext uri="{FF2B5EF4-FFF2-40B4-BE49-F238E27FC236}">
                <a16:creationId xmlns:a16="http://schemas.microsoft.com/office/drawing/2014/main" id="{DF2048FD-15B9-9718-E175-B50376762F78}"/>
              </a:ext>
            </a:extLst>
          </p:cNvPr>
          <p:cNvSpPr/>
          <p:nvPr/>
        </p:nvSpPr>
        <p:spPr>
          <a:xfrm>
            <a:off x="8419253" y="4791456"/>
            <a:ext cx="3886200" cy="182880"/>
          </a:xfrm>
          <a:prstGeom prst="rect">
            <a:avLst/>
          </a:prstGeom>
          <a:noFill/>
          <a:ln/>
        </p:spPr>
        <p:txBody>
          <a:bodyPr wrap="square" lIns="0" tIns="0" rIns="0" bIns="0" rtlCol="0" anchor="ctr">
            <a:noAutofit/>
          </a:bodyPr>
          <a:lstStyle/>
          <a:p>
            <a:pPr marL="0" indent="0">
              <a:buNone/>
            </a:pPr>
            <a:r>
              <a:rPr lang="en-US" sz="1400" dirty="0">
                <a:solidFill>
                  <a:srgbClr val="111111"/>
                </a:solidFill>
                <a:latin typeface="Aptos" pitchFamily="34" charset="0"/>
                <a:ea typeface="Aptos" pitchFamily="34" charset="-122"/>
                <a:cs typeface="Aptos" pitchFamily="34" charset="-120"/>
              </a:rPr>
              <a:t>Supports image/OCR-related activities</a:t>
            </a:r>
            <a:endParaRPr lang="en-US" sz="1400" dirty="0"/>
          </a:p>
        </p:txBody>
      </p:sp>
      <p:sp>
        <p:nvSpPr>
          <p:cNvPr id="30" name="Shape 29">
            <a:extLst>
              <a:ext uri="{FF2B5EF4-FFF2-40B4-BE49-F238E27FC236}">
                <a16:creationId xmlns:a16="http://schemas.microsoft.com/office/drawing/2014/main" id="{3E52CCB9-1022-D40D-2661-2737FD57F6DE}"/>
              </a:ext>
            </a:extLst>
          </p:cNvPr>
          <p:cNvSpPr/>
          <p:nvPr/>
        </p:nvSpPr>
        <p:spPr>
          <a:xfrm>
            <a:off x="6468533" y="5120640"/>
            <a:ext cx="5532120" cy="0"/>
          </a:xfrm>
          <a:prstGeom prst="line">
            <a:avLst/>
          </a:prstGeom>
          <a:noFill/>
          <a:ln w="6350">
            <a:solidFill>
              <a:srgbClr val="E6DED5"/>
            </a:solidFill>
            <a:prstDash val="solid"/>
          </a:ln>
        </p:spPr>
        <p:txBody>
          <a:bodyPr/>
          <a:lstStyle/>
          <a:p>
            <a:endParaRPr lang="en-US"/>
          </a:p>
        </p:txBody>
      </p:sp>
      <p:pic>
        <p:nvPicPr>
          <p:cNvPr id="32" name="Picture 31">
            <a:extLst>
              <a:ext uri="{FF2B5EF4-FFF2-40B4-BE49-F238E27FC236}">
                <a16:creationId xmlns:a16="http://schemas.microsoft.com/office/drawing/2014/main" id="{CEA0FB33-BA99-6F2A-445E-18D9AB9F0D8E}"/>
              </a:ext>
            </a:extLst>
          </p:cNvPr>
          <p:cNvPicPr>
            <a:picLocks noChangeAspect="1"/>
          </p:cNvPicPr>
          <p:nvPr/>
        </p:nvPicPr>
        <p:blipFill>
          <a:blip r:embed="rId3"/>
          <a:stretch>
            <a:fillRect/>
          </a:stretch>
        </p:blipFill>
        <p:spPr>
          <a:xfrm>
            <a:off x="381565" y="1554480"/>
            <a:ext cx="5341903" cy="3328416"/>
          </a:xfrm>
          <a:prstGeom prst="rect">
            <a:avLst/>
          </a:prstGeom>
        </p:spPr>
      </p:pic>
    </p:spTree>
    <p:extLst>
      <p:ext uri="{BB962C8B-B14F-4D97-AF65-F5344CB8AC3E}">
        <p14:creationId xmlns:p14="http://schemas.microsoft.com/office/powerpoint/2010/main" val="853671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B387C-33A5-2FAA-C6FB-335BF74F5C19}"/>
              </a:ext>
            </a:extLst>
          </p:cNvPr>
          <p:cNvSpPr>
            <a:spLocks noGrp="1"/>
          </p:cNvSpPr>
          <p:nvPr>
            <p:ph type="title"/>
          </p:nvPr>
        </p:nvSpPr>
        <p:spPr>
          <a:xfrm>
            <a:off x="439538" y="71184"/>
            <a:ext cx="7334540" cy="930275"/>
          </a:xfrm>
        </p:spPr>
        <p:txBody>
          <a:bodyPr>
            <a:noAutofit/>
          </a:bodyPr>
          <a:lstStyle/>
          <a:p>
            <a:r>
              <a:rPr lang="en-US" sz="3200" dirty="0"/>
              <a:t>Step 1: Collecting applications from Gmail</a:t>
            </a:r>
            <a:endParaRPr lang="en-SG" sz="3200" dirty="0"/>
          </a:p>
        </p:txBody>
      </p:sp>
      <p:pic>
        <p:nvPicPr>
          <p:cNvPr id="9" name="Picture 8">
            <a:extLst>
              <a:ext uri="{FF2B5EF4-FFF2-40B4-BE49-F238E27FC236}">
                <a16:creationId xmlns:a16="http://schemas.microsoft.com/office/drawing/2014/main" id="{EF9620C4-D00B-9F7E-B45F-D48A59F0BEB2}"/>
              </a:ext>
            </a:extLst>
          </p:cNvPr>
          <p:cNvPicPr>
            <a:picLocks noChangeAspect="1"/>
          </p:cNvPicPr>
          <p:nvPr/>
        </p:nvPicPr>
        <p:blipFill>
          <a:blip r:embed="rId3"/>
          <a:stretch>
            <a:fillRect/>
          </a:stretch>
        </p:blipFill>
        <p:spPr>
          <a:xfrm>
            <a:off x="439538" y="959320"/>
            <a:ext cx="2958180" cy="5583158"/>
          </a:xfrm>
          <a:prstGeom prst="rect">
            <a:avLst/>
          </a:prstGeom>
        </p:spPr>
      </p:pic>
      <p:pic>
        <p:nvPicPr>
          <p:cNvPr id="11" name="Picture 10">
            <a:extLst>
              <a:ext uri="{FF2B5EF4-FFF2-40B4-BE49-F238E27FC236}">
                <a16:creationId xmlns:a16="http://schemas.microsoft.com/office/drawing/2014/main" id="{158F65A8-E6EB-11E6-4221-0698E5F4A70D}"/>
              </a:ext>
            </a:extLst>
          </p:cNvPr>
          <p:cNvPicPr>
            <a:picLocks noChangeAspect="1"/>
          </p:cNvPicPr>
          <p:nvPr/>
        </p:nvPicPr>
        <p:blipFill>
          <a:blip r:embed="rId4"/>
          <a:stretch>
            <a:fillRect/>
          </a:stretch>
        </p:blipFill>
        <p:spPr>
          <a:xfrm>
            <a:off x="3397718" y="959320"/>
            <a:ext cx="1964054" cy="1593387"/>
          </a:xfrm>
          <a:prstGeom prst="rect">
            <a:avLst/>
          </a:prstGeom>
        </p:spPr>
      </p:pic>
      <p:pic>
        <p:nvPicPr>
          <p:cNvPr id="13" name="Picture 12">
            <a:extLst>
              <a:ext uri="{FF2B5EF4-FFF2-40B4-BE49-F238E27FC236}">
                <a16:creationId xmlns:a16="http://schemas.microsoft.com/office/drawing/2014/main" id="{E9F1A9B7-6452-0BF1-1689-5EF4A1D7B965}"/>
              </a:ext>
            </a:extLst>
          </p:cNvPr>
          <p:cNvPicPr>
            <a:picLocks noChangeAspect="1"/>
          </p:cNvPicPr>
          <p:nvPr/>
        </p:nvPicPr>
        <p:blipFill>
          <a:blip r:embed="rId5"/>
          <a:stretch>
            <a:fillRect/>
          </a:stretch>
        </p:blipFill>
        <p:spPr>
          <a:xfrm>
            <a:off x="6355898" y="959320"/>
            <a:ext cx="5475261" cy="1985726"/>
          </a:xfrm>
          <a:prstGeom prst="rect">
            <a:avLst/>
          </a:prstGeom>
        </p:spPr>
      </p:pic>
      <p:sp>
        <p:nvSpPr>
          <p:cNvPr id="14" name="Shape 20">
            <a:extLst>
              <a:ext uri="{FF2B5EF4-FFF2-40B4-BE49-F238E27FC236}">
                <a16:creationId xmlns:a16="http://schemas.microsoft.com/office/drawing/2014/main" id="{3CD30002-1A98-DB6A-3A99-4AE4CFF1788B}"/>
              </a:ext>
            </a:extLst>
          </p:cNvPr>
          <p:cNvSpPr/>
          <p:nvPr/>
        </p:nvSpPr>
        <p:spPr>
          <a:xfrm>
            <a:off x="6283271" y="3738010"/>
            <a:ext cx="5547888" cy="2583544"/>
          </a:xfrm>
          <a:prstGeom prst="roundRect">
            <a:avLst>
              <a:gd name="adj" fmla="val 10345"/>
            </a:avLst>
          </a:prstGeom>
          <a:solidFill>
            <a:srgbClr val="EEEAE4"/>
          </a:solidFill>
          <a:ln w="10160">
            <a:solidFill>
              <a:srgbClr val="EEEAE4">
                <a:alpha val="0"/>
              </a:srgbClr>
            </a:solidFill>
            <a:prstDash val="solid"/>
          </a:ln>
        </p:spPr>
        <p:txBody>
          <a:bodyPr/>
          <a:lstStyle/>
          <a:p>
            <a:endParaRPr lang="en-US" dirty="0"/>
          </a:p>
        </p:txBody>
      </p:sp>
      <p:sp>
        <p:nvSpPr>
          <p:cNvPr id="15" name="Shape 17">
            <a:extLst>
              <a:ext uri="{FF2B5EF4-FFF2-40B4-BE49-F238E27FC236}">
                <a16:creationId xmlns:a16="http://schemas.microsoft.com/office/drawing/2014/main" id="{15031A30-1B32-1E05-E90C-FBD98399A6D3}"/>
              </a:ext>
            </a:extLst>
          </p:cNvPr>
          <p:cNvSpPr/>
          <p:nvPr/>
        </p:nvSpPr>
        <p:spPr>
          <a:xfrm>
            <a:off x="3689685" y="2975705"/>
            <a:ext cx="2268353" cy="2116559"/>
          </a:xfrm>
          <a:prstGeom prst="roundRect">
            <a:avLst>
              <a:gd name="adj" fmla="val 3721"/>
            </a:avLst>
          </a:prstGeom>
          <a:solidFill>
            <a:srgbClr val="FBFAF8"/>
          </a:solidFill>
          <a:ln w="12700">
            <a:solidFill>
              <a:srgbClr val="D7CDBF"/>
            </a:solidFill>
            <a:prstDash val="solid"/>
          </a:ln>
        </p:spPr>
        <p:txBody>
          <a:bodyPr/>
          <a:lstStyle/>
          <a:p>
            <a:endParaRPr lang="en-US" dirty="0"/>
          </a:p>
        </p:txBody>
      </p:sp>
      <p:sp>
        <p:nvSpPr>
          <p:cNvPr id="17" name="Rectangle 2">
            <a:extLst>
              <a:ext uri="{FF2B5EF4-FFF2-40B4-BE49-F238E27FC236}">
                <a16:creationId xmlns:a16="http://schemas.microsoft.com/office/drawing/2014/main" id="{F9CC91D2-184C-2506-3643-C6249DED5D39}"/>
              </a:ext>
            </a:extLst>
          </p:cNvPr>
          <p:cNvSpPr>
            <a:spLocks noChangeArrowheads="1"/>
          </p:cNvSpPr>
          <p:nvPr/>
        </p:nvSpPr>
        <p:spPr bwMode="auto">
          <a:xfrm>
            <a:off x="3689685" y="2975705"/>
            <a:ext cx="2162475" cy="2001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rPr>
              <a:t>Activities used</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Google Workspace Scope, </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Get Mail Messages</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For Each, If, </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Download Email Attachments and</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Mark Email as Read or Unread.</a:t>
            </a:r>
          </a:p>
        </p:txBody>
      </p:sp>
      <p:sp>
        <p:nvSpPr>
          <p:cNvPr id="18" name="Rectangle 3">
            <a:extLst>
              <a:ext uri="{FF2B5EF4-FFF2-40B4-BE49-F238E27FC236}">
                <a16:creationId xmlns:a16="http://schemas.microsoft.com/office/drawing/2014/main" id="{18A22DAC-A110-7776-9024-47583AE3E697}"/>
              </a:ext>
            </a:extLst>
          </p:cNvPr>
          <p:cNvSpPr>
            <a:spLocks noChangeArrowheads="1"/>
          </p:cNvSpPr>
          <p:nvPr/>
        </p:nvSpPr>
        <p:spPr bwMode="auto">
          <a:xfrm>
            <a:off x="6455768" y="3738009"/>
            <a:ext cx="5142673" cy="2406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How it works</a:t>
            </a:r>
          </a:p>
          <a:p>
            <a:pPr marL="0" marR="0" lvl="0" indent="0"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ApplyPilot retrieves up to </a:t>
            </a:r>
            <a:r>
              <a:rPr kumimoji="0" lang="en-US" altLang="en-US" sz="1400" b="1" i="0" u="none" strike="noStrike" cap="none" normalizeH="0" baseline="0" dirty="0">
                <a:ln>
                  <a:noFill/>
                </a:ln>
                <a:solidFill>
                  <a:schemeClr val="tx1"/>
                </a:solidFill>
                <a:effectLst/>
                <a:latin typeface="Arial" panose="020B0604020202020204" pitchFamily="34" charset="0"/>
              </a:rPr>
              <a:t>30 unread emails</a:t>
            </a:r>
            <a:r>
              <a:rPr kumimoji="0" lang="en-US" altLang="en-US" sz="1400" b="0" i="0" u="none" strike="noStrike" cap="none" normalizeH="0" baseline="0" dirty="0">
                <a:ln>
                  <a:noFill/>
                </a:ln>
                <a:solidFill>
                  <a:schemeClr val="tx1"/>
                </a:solidFill>
                <a:effectLst/>
                <a:latin typeface="Arial" panose="020B0604020202020204" pitchFamily="34" charset="0"/>
              </a:rPr>
              <a:t> that contain attachments and use the subject keywords </a:t>
            </a:r>
            <a:r>
              <a:rPr kumimoji="0" lang="en-US" altLang="en-US" sz="1400" b="1" i="0" u="none" strike="noStrike" cap="none" normalizeH="0" baseline="0" dirty="0">
                <a:ln>
                  <a:noFill/>
                </a:ln>
                <a:solidFill>
                  <a:schemeClr val="tx1"/>
                </a:solidFill>
                <a:effectLst/>
                <a:latin typeface="Arial" panose="020B0604020202020204" pitchFamily="34" charset="0"/>
              </a:rPr>
              <a:t>“resume,” “job application,” or “junior software engineer.”</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For each matching email, it downloads only </a:t>
            </a:r>
            <a:r>
              <a:rPr kumimoji="0" lang="en-US" altLang="en-US" sz="1400" b="1" i="0" u="none" strike="noStrike" cap="none" normalizeH="0" baseline="0" dirty="0">
                <a:ln>
                  <a:noFill/>
                </a:ln>
                <a:solidFill>
                  <a:schemeClr val="tx1"/>
                </a:solidFill>
                <a:effectLst/>
                <a:latin typeface="Arial" panose="020B0604020202020204" pitchFamily="34" charset="0"/>
              </a:rPr>
              <a:t>PDF, PNG, JPG and JPEG</a:t>
            </a:r>
            <a:r>
              <a:rPr kumimoji="0" lang="en-US" altLang="en-US" sz="1400" b="0" i="0" u="none" strike="noStrike" cap="none" normalizeH="0" baseline="0" dirty="0">
                <a:ln>
                  <a:noFill/>
                </a:ln>
                <a:solidFill>
                  <a:schemeClr val="tx1"/>
                </a:solidFill>
                <a:effectLst/>
                <a:latin typeface="Arial" panose="020B0604020202020204" pitchFamily="34" charset="0"/>
              </a:rPr>
              <a:t> résumé files. The email is then marked as read so it will not be processed again during the next run.</a:t>
            </a:r>
          </a:p>
        </p:txBody>
      </p:sp>
    </p:spTree>
    <p:extLst>
      <p:ext uri="{BB962C8B-B14F-4D97-AF65-F5344CB8AC3E}">
        <p14:creationId xmlns:p14="http://schemas.microsoft.com/office/powerpoint/2010/main" val="21810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B387C-33A5-2FAA-C6FB-335BF74F5C19}"/>
              </a:ext>
            </a:extLst>
          </p:cNvPr>
          <p:cNvSpPr>
            <a:spLocks noGrp="1"/>
          </p:cNvSpPr>
          <p:nvPr>
            <p:ph type="title"/>
          </p:nvPr>
        </p:nvSpPr>
        <p:spPr>
          <a:xfrm>
            <a:off x="299832" y="59843"/>
            <a:ext cx="10109751" cy="930275"/>
          </a:xfrm>
        </p:spPr>
        <p:txBody>
          <a:bodyPr>
            <a:noAutofit/>
          </a:bodyPr>
          <a:lstStyle/>
          <a:p>
            <a:r>
              <a:rPr lang="en-US" sz="3200" dirty="0"/>
              <a:t>Step 2 : Reading, extracting and validating résumés</a:t>
            </a:r>
            <a:endParaRPr lang="en-SG" sz="3200" dirty="0"/>
          </a:p>
        </p:txBody>
      </p:sp>
      <p:sp>
        <p:nvSpPr>
          <p:cNvPr id="14" name="Shape 20">
            <a:extLst>
              <a:ext uri="{FF2B5EF4-FFF2-40B4-BE49-F238E27FC236}">
                <a16:creationId xmlns:a16="http://schemas.microsoft.com/office/drawing/2014/main" id="{3CD30002-1A98-DB6A-3A99-4AE4CFF1788B}"/>
              </a:ext>
            </a:extLst>
          </p:cNvPr>
          <p:cNvSpPr/>
          <p:nvPr/>
        </p:nvSpPr>
        <p:spPr>
          <a:xfrm>
            <a:off x="5207267" y="3956101"/>
            <a:ext cx="6867432" cy="2747891"/>
          </a:xfrm>
          <a:prstGeom prst="roundRect">
            <a:avLst>
              <a:gd name="adj" fmla="val 10345"/>
            </a:avLst>
          </a:prstGeom>
          <a:solidFill>
            <a:srgbClr val="EEEAE4"/>
          </a:solidFill>
          <a:ln w="10160">
            <a:solidFill>
              <a:srgbClr val="EEEAE4">
                <a:alpha val="0"/>
              </a:srgbClr>
            </a:solidFill>
            <a:prstDash val="solid"/>
          </a:ln>
        </p:spPr>
        <p:txBody>
          <a:bodyPr/>
          <a:lstStyle/>
          <a:p>
            <a:endParaRPr lang="en-US" dirty="0"/>
          </a:p>
        </p:txBody>
      </p:sp>
      <p:sp>
        <p:nvSpPr>
          <p:cNvPr id="18" name="Rectangle 3">
            <a:extLst>
              <a:ext uri="{FF2B5EF4-FFF2-40B4-BE49-F238E27FC236}">
                <a16:creationId xmlns:a16="http://schemas.microsoft.com/office/drawing/2014/main" id="{18A22DAC-A110-7776-9024-47583AE3E697}"/>
              </a:ext>
            </a:extLst>
          </p:cNvPr>
          <p:cNvSpPr>
            <a:spLocks noChangeArrowheads="1"/>
          </p:cNvSpPr>
          <p:nvPr/>
        </p:nvSpPr>
        <p:spPr bwMode="auto">
          <a:xfrm>
            <a:off x="5354707" y="3947706"/>
            <a:ext cx="6579978" cy="2738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How it works</a:t>
            </a:r>
          </a:p>
          <a:p>
            <a:pPr algn="just">
              <a:lnSpc>
                <a:spcPct val="150000"/>
              </a:lnSpc>
            </a:pPr>
            <a:r>
              <a:rPr lang="en-US" sz="1400" dirty="0"/>
              <a:t>ApplyPilot first checks the résumé file type. For a </a:t>
            </a:r>
            <a:r>
              <a:rPr lang="en-US" sz="1400" b="1" dirty="0"/>
              <a:t>digital PDF</a:t>
            </a:r>
            <a:r>
              <a:rPr lang="en-US" sz="1400" dirty="0"/>
              <a:t>, it uses </a:t>
            </a:r>
            <a:r>
              <a:rPr lang="en-US" sz="1400" b="1" dirty="0"/>
              <a:t>Read PDF Text</a:t>
            </a:r>
            <a:r>
              <a:rPr lang="en-US" sz="1400" dirty="0"/>
              <a:t>. If the extracted text is empty or too short, it uses </a:t>
            </a:r>
            <a:r>
              <a:rPr lang="en-US" sz="1400" b="1" dirty="0"/>
              <a:t>OCR</a:t>
            </a:r>
            <a:r>
              <a:rPr lang="en-US" sz="1400" dirty="0"/>
              <a:t> instead. PNG, JPG and JPEG files are loaded as images and read using OCR.</a:t>
            </a:r>
          </a:p>
          <a:p>
            <a:pPr algn="just">
              <a:lnSpc>
                <a:spcPct val="150000"/>
              </a:lnSpc>
            </a:pPr>
            <a:r>
              <a:rPr lang="en-US" sz="1400" dirty="0"/>
              <a:t>After the text is collected, the robot extracts the candidate’s </a:t>
            </a:r>
            <a:r>
              <a:rPr lang="en-US" sz="1400" b="1" dirty="0"/>
              <a:t>name, email, phone, education, experience and skills</a:t>
            </a:r>
            <a:r>
              <a:rPr lang="en-US" sz="1400" dirty="0"/>
              <a:t>. It then checks that the required information is available. If the résumé is unreadable or important details are missing, the application is marked as </a:t>
            </a:r>
            <a:r>
              <a:rPr lang="en-US" sz="1400" b="1" dirty="0"/>
              <a:t>Failed</a:t>
            </a:r>
            <a:r>
              <a:rPr lang="en-US" sz="1400" dirty="0"/>
              <a:t> and the reason is recorded</a:t>
            </a:r>
          </a:p>
        </p:txBody>
      </p:sp>
      <p:sp>
        <p:nvSpPr>
          <p:cNvPr id="3" name="AutoShape 2">
            <a:extLst>
              <a:ext uri="{FF2B5EF4-FFF2-40B4-BE49-F238E27FC236}">
                <a16:creationId xmlns:a16="http://schemas.microsoft.com/office/drawing/2014/main" id="{B528B102-2D6F-7BED-1BDA-5ACE5C1DCA6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AAEB1A48-80C3-FD95-F039-2E81BCD3B19F}"/>
              </a:ext>
            </a:extLst>
          </p:cNvPr>
          <p:cNvPicPr>
            <a:picLocks noChangeAspect="1"/>
          </p:cNvPicPr>
          <p:nvPr/>
        </p:nvPicPr>
        <p:blipFill>
          <a:blip r:embed="rId3"/>
          <a:stretch>
            <a:fillRect/>
          </a:stretch>
        </p:blipFill>
        <p:spPr>
          <a:xfrm>
            <a:off x="299832" y="959320"/>
            <a:ext cx="3786093" cy="5559439"/>
          </a:xfrm>
          <a:prstGeom prst="rect">
            <a:avLst/>
          </a:prstGeom>
        </p:spPr>
      </p:pic>
      <p:pic>
        <p:nvPicPr>
          <p:cNvPr id="6" name="Picture 5">
            <a:extLst>
              <a:ext uri="{FF2B5EF4-FFF2-40B4-BE49-F238E27FC236}">
                <a16:creationId xmlns:a16="http://schemas.microsoft.com/office/drawing/2014/main" id="{B9EA2D28-C399-A915-3A6E-9A63109A29EE}"/>
              </a:ext>
            </a:extLst>
          </p:cNvPr>
          <p:cNvPicPr>
            <a:picLocks noChangeAspect="1"/>
          </p:cNvPicPr>
          <p:nvPr/>
        </p:nvPicPr>
        <p:blipFill>
          <a:blip r:embed="rId4"/>
          <a:stretch>
            <a:fillRect/>
          </a:stretch>
        </p:blipFill>
        <p:spPr>
          <a:xfrm>
            <a:off x="4106256" y="972787"/>
            <a:ext cx="2212139" cy="2747891"/>
          </a:xfrm>
          <a:prstGeom prst="rect">
            <a:avLst/>
          </a:prstGeom>
        </p:spPr>
      </p:pic>
      <p:pic>
        <p:nvPicPr>
          <p:cNvPr id="8" name="Picture 7">
            <a:extLst>
              <a:ext uri="{FF2B5EF4-FFF2-40B4-BE49-F238E27FC236}">
                <a16:creationId xmlns:a16="http://schemas.microsoft.com/office/drawing/2014/main" id="{E5E9371D-A881-3408-4374-398612F7F12C}"/>
              </a:ext>
            </a:extLst>
          </p:cNvPr>
          <p:cNvPicPr>
            <a:picLocks noChangeAspect="1"/>
          </p:cNvPicPr>
          <p:nvPr/>
        </p:nvPicPr>
        <p:blipFill>
          <a:blip r:embed="rId5"/>
          <a:stretch>
            <a:fillRect/>
          </a:stretch>
        </p:blipFill>
        <p:spPr>
          <a:xfrm>
            <a:off x="6388391" y="958294"/>
            <a:ext cx="5686308" cy="2438882"/>
          </a:xfrm>
          <a:prstGeom prst="rect">
            <a:avLst/>
          </a:prstGeom>
        </p:spPr>
      </p:pic>
    </p:spTree>
    <p:extLst>
      <p:ext uri="{BB962C8B-B14F-4D97-AF65-F5344CB8AC3E}">
        <p14:creationId xmlns:p14="http://schemas.microsoft.com/office/powerpoint/2010/main" val="2901253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B387C-33A5-2FAA-C6FB-335BF74F5C19}"/>
              </a:ext>
            </a:extLst>
          </p:cNvPr>
          <p:cNvSpPr>
            <a:spLocks noGrp="1"/>
          </p:cNvSpPr>
          <p:nvPr>
            <p:ph type="title"/>
          </p:nvPr>
        </p:nvSpPr>
        <p:spPr>
          <a:xfrm>
            <a:off x="299832" y="59843"/>
            <a:ext cx="10109751" cy="930275"/>
          </a:xfrm>
        </p:spPr>
        <p:txBody>
          <a:bodyPr>
            <a:noAutofit/>
          </a:bodyPr>
          <a:lstStyle/>
          <a:p>
            <a:r>
              <a:rPr lang="en-US" sz="3200" dirty="0"/>
              <a:t>Step 3 : Scoring candidates with Python</a:t>
            </a:r>
            <a:endParaRPr lang="en-SG" sz="3200" dirty="0"/>
          </a:p>
        </p:txBody>
      </p:sp>
      <p:sp>
        <p:nvSpPr>
          <p:cNvPr id="14" name="Shape 20">
            <a:extLst>
              <a:ext uri="{FF2B5EF4-FFF2-40B4-BE49-F238E27FC236}">
                <a16:creationId xmlns:a16="http://schemas.microsoft.com/office/drawing/2014/main" id="{3CD30002-1A98-DB6A-3A99-4AE4CFF1788B}"/>
              </a:ext>
            </a:extLst>
          </p:cNvPr>
          <p:cNvSpPr/>
          <p:nvPr/>
        </p:nvSpPr>
        <p:spPr>
          <a:xfrm>
            <a:off x="4379492" y="4572520"/>
            <a:ext cx="7064945" cy="2112311"/>
          </a:xfrm>
          <a:prstGeom prst="roundRect">
            <a:avLst>
              <a:gd name="adj" fmla="val 10345"/>
            </a:avLst>
          </a:prstGeom>
          <a:solidFill>
            <a:srgbClr val="EEEAE4"/>
          </a:solidFill>
          <a:ln w="10160">
            <a:solidFill>
              <a:srgbClr val="EEEAE4">
                <a:alpha val="0"/>
              </a:srgbClr>
            </a:solidFill>
            <a:prstDash val="solid"/>
          </a:ln>
        </p:spPr>
        <p:txBody>
          <a:bodyPr/>
          <a:lstStyle/>
          <a:p>
            <a:endParaRPr lang="en-US" dirty="0"/>
          </a:p>
        </p:txBody>
      </p:sp>
      <p:sp>
        <p:nvSpPr>
          <p:cNvPr id="3" name="AutoShape 2">
            <a:extLst>
              <a:ext uri="{FF2B5EF4-FFF2-40B4-BE49-F238E27FC236}">
                <a16:creationId xmlns:a16="http://schemas.microsoft.com/office/drawing/2014/main" id="{B528B102-2D6F-7BED-1BDA-5ACE5C1DCA6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2">
            <a:extLst>
              <a:ext uri="{FF2B5EF4-FFF2-40B4-BE49-F238E27FC236}">
                <a16:creationId xmlns:a16="http://schemas.microsoft.com/office/drawing/2014/main" id="{BEE004F0-08D0-CEF8-AF71-3D0DDB75FB3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6596676B-BAAD-167E-F649-992104B7F4EE}"/>
              </a:ext>
            </a:extLst>
          </p:cNvPr>
          <p:cNvPicPr>
            <a:picLocks noChangeAspect="1"/>
          </p:cNvPicPr>
          <p:nvPr/>
        </p:nvPicPr>
        <p:blipFill>
          <a:blip r:embed="rId3"/>
          <a:stretch>
            <a:fillRect/>
          </a:stretch>
        </p:blipFill>
        <p:spPr>
          <a:xfrm>
            <a:off x="374721" y="837405"/>
            <a:ext cx="3615306" cy="5666057"/>
          </a:xfrm>
          <a:prstGeom prst="rect">
            <a:avLst/>
          </a:prstGeom>
        </p:spPr>
      </p:pic>
      <p:pic>
        <p:nvPicPr>
          <p:cNvPr id="10" name="Picture 9">
            <a:extLst>
              <a:ext uri="{FF2B5EF4-FFF2-40B4-BE49-F238E27FC236}">
                <a16:creationId xmlns:a16="http://schemas.microsoft.com/office/drawing/2014/main" id="{E279D631-E545-8D8F-0427-503BDB7DDB49}"/>
              </a:ext>
            </a:extLst>
          </p:cNvPr>
          <p:cNvPicPr>
            <a:picLocks noChangeAspect="1"/>
          </p:cNvPicPr>
          <p:nvPr/>
        </p:nvPicPr>
        <p:blipFill rotWithShape="1">
          <a:blip r:embed="rId4"/>
          <a:srcRect t="33778"/>
          <a:stretch/>
        </p:blipFill>
        <p:spPr>
          <a:xfrm>
            <a:off x="4229325" y="837405"/>
            <a:ext cx="2669713" cy="3546093"/>
          </a:xfrm>
          <a:prstGeom prst="rect">
            <a:avLst/>
          </a:prstGeom>
        </p:spPr>
      </p:pic>
      <p:pic>
        <p:nvPicPr>
          <p:cNvPr id="12" name="Picture 11">
            <a:extLst>
              <a:ext uri="{FF2B5EF4-FFF2-40B4-BE49-F238E27FC236}">
                <a16:creationId xmlns:a16="http://schemas.microsoft.com/office/drawing/2014/main" id="{EF03FA18-51E4-BEC2-ABA8-DB05557F1AE3}"/>
              </a:ext>
            </a:extLst>
          </p:cNvPr>
          <p:cNvPicPr>
            <a:picLocks noChangeAspect="1"/>
          </p:cNvPicPr>
          <p:nvPr/>
        </p:nvPicPr>
        <p:blipFill>
          <a:blip r:embed="rId5"/>
          <a:stretch>
            <a:fillRect/>
          </a:stretch>
        </p:blipFill>
        <p:spPr>
          <a:xfrm>
            <a:off x="7209322" y="837405"/>
            <a:ext cx="2796553" cy="3497660"/>
          </a:xfrm>
          <a:prstGeom prst="rect">
            <a:avLst/>
          </a:prstGeom>
        </p:spPr>
      </p:pic>
      <p:sp>
        <p:nvSpPr>
          <p:cNvPr id="19" name="Rectangle 5">
            <a:extLst>
              <a:ext uri="{FF2B5EF4-FFF2-40B4-BE49-F238E27FC236}">
                <a16:creationId xmlns:a16="http://schemas.microsoft.com/office/drawing/2014/main" id="{9295FB64-F7D4-B1F2-6387-4E22749E31AB}"/>
              </a:ext>
            </a:extLst>
          </p:cNvPr>
          <p:cNvSpPr>
            <a:spLocks noChangeArrowheads="1"/>
          </p:cNvSpPr>
          <p:nvPr/>
        </p:nvSpPr>
        <p:spPr bwMode="auto">
          <a:xfrm>
            <a:off x="4467939" y="4524087"/>
            <a:ext cx="6888050" cy="2141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mj-lt"/>
              </a:rPr>
              <a:t>How it </a:t>
            </a:r>
            <a:r>
              <a:rPr lang="en-US" altLang="en-US" b="1" dirty="0">
                <a:latin typeface="+mj-lt"/>
              </a:rPr>
              <a:t>w</a:t>
            </a:r>
            <a:r>
              <a:rPr kumimoji="0" lang="en-US" altLang="en-US" b="1" i="0" u="none" strike="noStrike" cap="none" normalizeH="0" baseline="0" dirty="0">
                <a:ln>
                  <a:noFill/>
                </a:ln>
                <a:solidFill>
                  <a:schemeClr val="tx1"/>
                </a:solidFill>
                <a:effectLst/>
                <a:latin typeface="+mj-lt"/>
              </a:rPr>
              <a:t>orks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rPr>
              <a:t>ApplyPilot prepares the candidate’s </a:t>
            </a:r>
            <a:r>
              <a:rPr kumimoji="0" lang="en-US" altLang="en-US" sz="1200" b="1" i="0" u="none" strike="noStrike" cap="none" normalizeH="0" baseline="0" dirty="0">
                <a:ln>
                  <a:noFill/>
                </a:ln>
                <a:solidFill>
                  <a:schemeClr val="tx1"/>
                </a:solidFill>
                <a:effectLst/>
              </a:rPr>
              <a:t>skills, education and experience</a:t>
            </a:r>
            <a:r>
              <a:rPr kumimoji="0" lang="en-US" altLang="en-US" sz="1200" b="0" i="0" u="none" strike="noStrike" cap="none" normalizeH="0" baseline="0" dirty="0">
                <a:ln>
                  <a:noFill/>
                </a:ln>
                <a:solidFill>
                  <a:schemeClr val="tx1"/>
                </a:solidFill>
                <a:effectLst/>
              </a:rPr>
              <a:t> as JSON and sends the information to score_candidate.py using </a:t>
            </a:r>
            <a:r>
              <a:rPr kumimoji="0" lang="en-US" altLang="en-US" sz="1200" b="1" i="0" u="none" strike="noStrike" cap="none" normalizeH="0" baseline="0" dirty="0">
                <a:ln>
                  <a:noFill/>
                </a:ln>
                <a:solidFill>
                  <a:schemeClr val="tx1"/>
                </a:solidFill>
                <a:effectLst/>
              </a:rPr>
              <a:t>Invoke PowerShell</a:t>
            </a:r>
            <a:r>
              <a:rPr kumimoji="0" lang="en-US" altLang="en-US" sz="1200" b="0" i="0" u="none" strike="noStrike" cap="none" normalizeH="0" baseline="0" dirty="0">
                <a:ln>
                  <a:noFill/>
                </a:ln>
                <a:solidFill>
                  <a:schemeClr val="tx1"/>
                </a:solidFill>
                <a:effectLst/>
              </a:rPr>
              <a: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rPr>
              <a:t>The Python script returns a candidate </a:t>
            </a:r>
            <a:r>
              <a:rPr kumimoji="0" lang="en-US" altLang="en-US" sz="1200" b="1" i="0" u="none" strike="noStrike" cap="none" normalizeH="0" baseline="0" dirty="0">
                <a:ln>
                  <a:noFill/>
                </a:ln>
                <a:solidFill>
                  <a:schemeClr val="tx1"/>
                </a:solidFill>
                <a:effectLst/>
              </a:rPr>
              <a:t>score</a:t>
            </a:r>
            <a:r>
              <a:rPr kumimoji="0" lang="en-US" altLang="en-US" sz="1200" b="0" i="0" u="none" strike="noStrike" cap="none" normalizeH="0" baseline="0" dirty="0">
                <a:ln>
                  <a:noFill/>
                </a:ln>
                <a:solidFill>
                  <a:schemeClr val="tx1"/>
                </a:solidFill>
                <a:effectLst/>
              </a:rPr>
              <a:t> and a priority of </a:t>
            </a:r>
            <a:r>
              <a:rPr kumimoji="0" lang="en-US" altLang="en-US" sz="1200" b="1" i="0" u="none" strike="noStrike" cap="none" normalizeH="0" baseline="0" dirty="0">
                <a:ln>
                  <a:noFill/>
                </a:ln>
                <a:solidFill>
                  <a:schemeClr val="tx1"/>
                </a:solidFill>
                <a:effectLst/>
              </a:rPr>
              <a:t>High, Medium or Low</a:t>
            </a:r>
            <a:r>
              <a:rPr kumimoji="0" lang="en-US" altLang="en-US" sz="1200" b="0" i="0" u="none" strike="noStrike" cap="none" normalizeH="0" baseline="0" dirty="0">
                <a:ln>
                  <a:noFill/>
                </a:ln>
                <a:solidFill>
                  <a:schemeClr val="tx1"/>
                </a:solidFill>
                <a:effectLst/>
              </a:rPr>
              <a:t>. UiPath extracts these values and stores them with the candidate’s result.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rPr>
              <a:t>If the Python output is missing, invalid or outside the accepted range, the robot logs a warning and safely uses a score of </a:t>
            </a:r>
            <a:r>
              <a:rPr kumimoji="0" lang="en-US" altLang="en-US" sz="1200" b="1" i="0" u="none" strike="noStrike" cap="none" normalizeH="0" baseline="0" dirty="0">
                <a:ln>
                  <a:noFill/>
                </a:ln>
                <a:solidFill>
                  <a:schemeClr val="tx1"/>
                </a:solidFill>
                <a:effectLst/>
              </a:rPr>
              <a:t>0</a:t>
            </a:r>
            <a:r>
              <a:rPr kumimoji="0" lang="en-US" altLang="en-US" sz="1200" b="0" i="0" u="none" strike="noStrike" cap="none" normalizeH="0" baseline="0" dirty="0">
                <a:ln>
                  <a:noFill/>
                </a:ln>
                <a:solidFill>
                  <a:schemeClr val="tx1"/>
                </a:solidFill>
                <a:effectLst/>
              </a:rPr>
              <a:t> with </a:t>
            </a:r>
            <a:r>
              <a:rPr kumimoji="0" lang="en-US" altLang="en-US" sz="1200" b="1" i="0" u="none" strike="noStrike" cap="none" normalizeH="0" baseline="0" dirty="0">
                <a:ln>
                  <a:noFill/>
                </a:ln>
                <a:solidFill>
                  <a:schemeClr val="tx1"/>
                </a:solidFill>
                <a:effectLst/>
              </a:rPr>
              <a:t>Low priority</a:t>
            </a:r>
            <a:r>
              <a:rPr kumimoji="0" lang="en-US" altLang="en-US" sz="1200" b="0" i="0" u="none" strike="noStrike" cap="none" normalizeH="0" baseline="0" dirty="0">
                <a:ln>
                  <a:noFill/>
                </a:ln>
                <a:solidFill>
                  <a:schemeClr val="tx1"/>
                </a:solidFill>
                <a:effectLst/>
              </a:rPr>
              <a:t> instead of stopping the workflow</a:t>
            </a:r>
            <a:r>
              <a:rPr kumimoji="0" lang="en-US" altLang="en-US" sz="12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979597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B387C-33A5-2FAA-C6FB-335BF74F5C19}"/>
              </a:ext>
            </a:extLst>
          </p:cNvPr>
          <p:cNvSpPr>
            <a:spLocks noGrp="1"/>
          </p:cNvSpPr>
          <p:nvPr>
            <p:ph type="title"/>
          </p:nvPr>
        </p:nvSpPr>
        <p:spPr>
          <a:xfrm>
            <a:off x="290207" y="-92870"/>
            <a:ext cx="10109751" cy="930275"/>
          </a:xfrm>
        </p:spPr>
        <p:txBody>
          <a:bodyPr>
            <a:noAutofit/>
          </a:bodyPr>
          <a:lstStyle/>
          <a:p>
            <a:r>
              <a:rPr lang="en-US" sz="3200" dirty="0"/>
              <a:t>Step 4 : Storing and routing applications</a:t>
            </a:r>
            <a:endParaRPr lang="en-SG" sz="3200" dirty="0"/>
          </a:p>
        </p:txBody>
      </p:sp>
      <p:sp>
        <p:nvSpPr>
          <p:cNvPr id="14" name="Shape 20">
            <a:extLst>
              <a:ext uri="{FF2B5EF4-FFF2-40B4-BE49-F238E27FC236}">
                <a16:creationId xmlns:a16="http://schemas.microsoft.com/office/drawing/2014/main" id="{3CD30002-1A98-DB6A-3A99-4AE4CFF1788B}"/>
              </a:ext>
            </a:extLst>
          </p:cNvPr>
          <p:cNvSpPr/>
          <p:nvPr/>
        </p:nvSpPr>
        <p:spPr>
          <a:xfrm>
            <a:off x="6705599" y="4158113"/>
            <a:ext cx="5196193" cy="2697149"/>
          </a:xfrm>
          <a:prstGeom prst="roundRect">
            <a:avLst>
              <a:gd name="adj" fmla="val 10345"/>
            </a:avLst>
          </a:prstGeom>
          <a:solidFill>
            <a:srgbClr val="EEEAE4"/>
          </a:solidFill>
          <a:ln w="10160">
            <a:solidFill>
              <a:srgbClr val="EEEAE4">
                <a:alpha val="0"/>
              </a:srgbClr>
            </a:solidFill>
            <a:prstDash val="solid"/>
          </a:ln>
        </p:spPr>
        <p:txBody>
          <a:bodyPr/>
          <a:lstStyle/>
          <a:p>
            <a:endParaRPr lang="en-US" dirty="0"/>
          </a:p>
        </p:txBody>
      </p:sp>
      <p:sp>
        <p:nvSpPr>
          <p:cNvPr id="3" name="AutoShape 2">
            <a:extLst>
              <a:ext uri="{FF2B5EF4-FFF2-40B4-BE49-F238E27FC236}">
                <a16:creationId xmlns:a16="http://schemas.microsoft.com/office/drawing/2014/main" id="{B528B102-2D6F-7BED-1BDA-5ACE5C1DCA6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2">
            <a:extLst>
              <a:ext uri="{FF2B5EF4-FFF2-40B4-BE49-F238E27FC236}">
                <a16:creationId xmlns:a16="http://schemas.microsoft.com/office/drawing/2014/main" id="{BEE004F0-08D0-CEF8-AF71-3D0DDB75FB3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Rectangle 5">
            <a:extLst>
              <a:ext uri="{FF2B5EF4-FFF2-40B4-BE49-F238E27FC236}">
                <a16:creationId xmlns:a16="http://schemas.microsoft.com/office/drawing/2014/main" id="{9295FB64-F7D4-B1F2-6387-4E22749E31AB}"/>
              </a:ext>
            </a:extLst>
          </p:cNvPr>
          <p:cNvSpPr>
            <a:spLocks noChangeArrowheads="1"/>
          </p:cNvSpPr>
          <p:nvPr/>
        </p:nvSpPr>
        <p:spPr bwMode="auto">
          <a:xfrm>
            <a:off x="6811657" y="4090735"/>
            <a:ext cx="4984076" cy="2697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mj-lt"/>
              </a:rPr>
              <a:t>How it </a:t>
            </a:r>
            <a:r>
              <a:rPr lang="en-US" altLang="en-US" b="1" dirty="0">
                <a:latin typeface="+mj-lt"/>
              </a:rPr>
              <a:t>w</a:t>
            </a:r>
            <a:r>
              <a:rPr kumimoji="0" lang="en-US" altLang="en-US" b="1" i="0" u="none" strike="noStrike" cap="none" normalizeH="0" baseline="0" dirty="0">
                <a:ln>
                  <a:noFill/>
                </a:ln>
                <a:solidFill>
                  <a:schemeClr val="tx1"/>
                </a:solidFill>
                <a:effectLst/>
                <a:latin typeface="+mj-lt"/>
              </a:rPr>
              <a:t>orks</a:t>
            </a:r>
          </a:p>
          <a:p>
            <a:pPr>
              <a:lnSpc>
                <a:spcPct val="150000"/>
              </a:lnSpc>
            </a:pPr>
            <a:r>
              <a:rPr lang="en-US" sz="1200" dirty="0"/>
              <a:t>ApplyPilot first cleans the candidate’s email by removing extra spaces and changing it to lowercase. It then checks MySQL to see whether the same email already exists.</a:t>
            </a:r>
          </a:p>
          <a:p>
            <a:pPr>
              <a:lnSpc>
                <a:spcPct val="150000"/>
              </a:lnSpc>
            </a:pPr>
            <a:r>
              <a:rPr lang="en-US" sz="1200" dirty="0"/>
              <a:t>If the email is new, the candidate’s details, score and priority are inserted into the database. The robot checks that the insertion was successful before marking the application as </a:t>
            </a:r>
            <a:r>
              <a:rPr lang="en-US" sz="1200" b="1" dirty="0"/>
              <a:t>Processed</a:t>
            </a:r>
            <a:r>
              <a:rPr lang="en-US" sz="1200" dirty="0"/>
              <a:t>.</a:t>
            </a:r>
          </a:p>
          <a:p>
            <a:pPr>
              <a:lnSpc>
                <a:spcPct val="150000"/>
              </a:lnSpc>
            </a:pPr>
            <a:r>
              <a:rPr lang="en-US" sz="1200" dirty="0"/>
              <a:t>Finally, the résumé is moved to the correct folder based on its result: </a:t>
            </a:r>
            <a:r>
              <a:rPr lang="en-US" sz="1200" b="1" dirty="0"/>
              <a:t>Processed, Duplicate or Failed</a:t>
            </a:r>
            <a:r>
              <a:rPr lang="en-US" sz="1200" dirty="0"/>
              <a:t>.</a:t>
            </a:r>
          </a:p>
        </p:txBody>
      </p:sp>
      <p:sp>
        <p:nvSpPr>
          <p:cNvPr id="8" name="AutoShape 2">
            <a:extLst>
              <a:ext uri="{FF2B5EF4-FFF2-40B4-BE49-F238E27FC236}">
                <a16:creationId xmlns:a16="http://schemas.microsoft.com/office/drawing/2014/main" id="{2F63EE53-22CA-ECD4-882E-9E663E3DD2B7}"/>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8A780B85-33D4-55A0-F012-14EC15B5874C}"/>
              </a:ext>
            </a:extLst>
          </p:cNvPr>
          <p:cNvPicPr>
            <a:picLocks noChangeAspect="1"/>
          </p:cNvPicPr>
          <p:nvPr/>
        </p:nvPicPr>
        <p:blipFill>
          <a:blip r:embed="rId3"/>
          <a:stretch>
            <a:fillRect/>
          </a:stretch>
        </p:blipFill>
        <p:spPr>
          <a:xfrm>
            <a:off x="290207" y="837405"/>
            <a:ext cx="3280561" cy="5813735"/>
          </a:xfrm>
          <a:prstGeom prst="rect">
            <a:avLst/>
          </a:prstGeom>
        </p:spPr>
      </p:pic>
      <p:pic>
        <p:nvPicPr>
          <p:cNvPr id="13" name="Picture 12">
            <a:extLst>
              <a:ext uri="{FF2B5EF4-FFF2-40B4-BE49-F238E27FC236}">
                <a16:creationId xmlns:a16="http://schemas.microsoft.com/office/drawing/2014/main" id="{5C5C30F4-1F05-E089-2C86-7685453A1864}"/>
              </a:ext>
            </a:extLst>
          </p:cNvPr>
          <p:cNvPicPr>
            <a:picLocks noChangeAspect="1"/>
          </p:cNvPicPr>
          <p:nvPr/>
        </p:nvPicPr>
        <p:blipFill>
          <a:blip r:embed="rId4"/>
          <a:stretch>
            <a:fillRect/>
          </a:stretch>
        </p:blipFill>
        <p:spPr>
          <a:xfrm>
            <a:off x="3669633" y="847832"/>
            <a:ext cx="2830032" cy="4139349"/>
          </a:xfrm>
          <a:prstGeom prst="rect">
            <a:avLst/>
          </a:prstGeom>
        </p:spPr>
      </p:pic>
      <p:pic>
        <p:nvPicPr>
          <p:cNvPr id="16" name="Picture 15">
            <a:extLst>
              <a:ext uri="{FF2B5EF4-FFF2-40B4-BE49-F238E27FC236}">
                <a16:creationId xmlns:a16="http://schemas.microsoft.com/office/drawing/2014/main" id="{81CD2B9D-8559-E208-99E6-EBF6D902CBEC}"/>
              </a:ext>
            </a:extLst>
          </p:cNvPr>
          <p:cNvPicPr>
            <a:picLocks noChangeAspect="1"/>
          </p:cNvPicPr>
          <p:nvPr/>
        </p:nvPicPr>
        <p:blipFill>
          <a:blip r:embed="rId5"/>
          <a:stretch>
            <a:fillRect/>
          </a:stretch>
        </p:blipFill>
        <p:spPr>
          <a:xfrm>
            <a:off x="6705600" y="847832"/>
            <a:ext cx="3923304" cy="3087923"/>
          </a:xfrm>
          <a:prstGeom prst="rect">
            <a:avLst/>
          </a:prstGeom>
        </p:spPr>
      </p:pic>
    </p:spTree>
    <p:extLst>
      <p:ext uri="{BB962C8B-B14F-4D97-AF65-F5344CB8AC3E}">
        <p14:creationId xmlns:p14="http://schemas.microsoft.com/office/powerpoint/2010/main" val="3740575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B387C-33A5-2FAA-C6FB-335BF74F5C19}"/>
              </a:ext>
            </a:extLst>
          </p:cNvPr>
          <p:cNvSpPr>
            <a:spLocks noGrp="1"/>
          </p:cNvSpPr>
          <p:nvPr>
            <p:ph type="title"/>
          </p:nvPr>
        </p:nvSpPr>
        <p:spPr>
          <a:xfrm>
            <a:off x="290207" y="-92869"/>
            <a:ext cx="10109751" cy="873324"/>
          </a:xfrm>
        </p:spPr>
        <p:txBody>
          <a:bodyPr>
            <a:noAutofit/>
          </a:bodyPr>
          <a:lstStyle/>
          <a:p>
            <a:r>
              <a:rPr lang="en-US" sz="3200" dirty="0"/>
              <a:t>Step 5 : Creating the ranked Excel report</a:t>
            </a:r>
            <a:endParaRPr lang="en-SG" sz="3200" dirty="0"/>
          </a:p>
        </p:txBody>
      </p:sp>
      <p:sp>
        <p:nvSpPr>
          <p:cNvPr id="14" name="Shape 20">
            <a:extLst>
              <a:ext uri="{FF2B5EF4-FFF2-40B4-BE49-F238E27FC236}">
                <a16:creationId xmlns:a16="http://schemas.microsoft.com/office/drawing/2014/main" id="{3CD30002-1A98-DB6A-3A99-4AE4CFF1788B}"/>
              </a:ext>
            </a:extLst>
          </p:cNvPr>
          <p:cNvSpPr/>
          <p:nvPr/>
        </p:nvSpPr>
        <p:spPr>
          <a:xfrm>
            <a:off x="7185577" y="3402695"/>
            <a:ext cx="4703381" cy="3273862"/>
          </a:xfrm>
          <a:prstGeom prst="roundRect">
            <a:avLst>
              <a:gd name="adj" fmla="val 10345"/>
            </a:avLst>
          </a:prstGeom>
          <a:solidFill>
            <a:srgbClr val="EEEAE4"/>
          </a:solidFill>
          <a:ln w="10160">
            <a:solidFill>
              <a:srgbClr val="EEEAE4">
                <a:alpha val="0"/>
              </a:srgbClr>
            </a:solidFill>
            <a:prstDash val="solid"/>
          </a:ln>
        </p:spPr>
        <p:txBody>
          <a:bodyPr/>
          <a:lstStyle/>
          <a:p>
            <a:endParaRPr lang="en-US" dirty="0"/>
          </a:p>
        </p:txBody>
      </p:sp>
      <p:sp>
        <p:nvSpPr>
          <p:cNvPr id="3" name="AutoShape 2">
            <a:extLst>
              <a:ext uri="{FF2B5EF4-FFF2-40B4-BE49-F238E27FC236}">
                <a16:creationId xmlns:a16="http://schemas.microsoft.com/office/drawing/2014/main" id="{B528B102-2D6F-7BED-1BDA-5ACE5C1DCA6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2">
            <a:extLst>
              <a:ext uri="{FF2B5EF4-FFF2-40B4-BE49-F238E27FC236}">
                <a16:creationId xmlns:a16="http://schemas.microsoft.com/office/drawing/2014/main" id="{BEE004F0-08D0-CEF8-AF71-3D0DDB75FB3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Rectangle 5">
            <a:extLst>
              <a:ext uri="{FF2B5EF4-FFF2-40B4-BE49-F238E27FC236}">
                <a16:creationId xmlns:a16="http://schemas.microsoft.com/office/drawing/2014/main" id="{9295FB64-F7D4-B1F2-6387-4E22749E31AB}"/>
              </a:ext>
            </a:extLst>
          </p:cNvPr>
          <p:cNvSpPr>
            <a:spLocks noChangeArrowheads="1"/>
          </p:cNvSpPr>
          <p:nvPr/>
        </p:nvSpPr>
        <p:spPr bwMode="auto">
          <a:xfrm>
            <a:off x="7290854" y="3581400"/>
            <a:ext cx="4346089" cy="2974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mj-lt"/>
              </a:rPr>
              <a:t>How it </a:t>
            </a:r>
            <a:r>
              <a:rPr lang="en-US" altLang="en-US" b="1" dirty="0">
                <a:latin typeface="+mj-lt"/>
              </a:rPr>
              <a:t>w</a:t>
            </a:r>
            <a:r>
              <a:rPr kumimoji="0" lang="en-US" altLang="en-US" b="1" i="0" u="none" strike="noStrike" cap="none" normalizeH="0" baseline="0" dirty="0">
                <a:ln>
                  <a:noFill/>
                </a:ln>
                <a:solidFill>
                  <a:schemeClr val="tx1"/>
                </a:solidFill>
                <a:effectLst/>
                <a:latin typeface="+mj-lt"/>
              </a:rPr>
              <a:t>orks</a:t>
            </a:r>
          </a:p>
          <a:p>
            <a:pPr algn="just">
              <a:lnSpc>
                <a:spcPct val="150000"/>
              </a:lnSpc>
            </a:pPr>
            <a:r>
              <a:rPr lang="en-US" sz="1200" dirty="0"/>
              <a:t>After all résumés have been processed, ApplyPilot checks whether candidate results are available. It sorts the records using </a:t>
            </a:r>
            <a:r>
              <a:rPr lang="en-US" sz="1200" b="1" dirty="0"/>
              <a:t>PriorityRank ASC, Score DESC</a:t>
            </a:r>
            <a:r>
              <a:rPr lang="en-US" sz="1200" dirty="0"/>
              <a:t>, so higher-priority candidates appear first, followed by the highest scores within each priority group.</a:t>
            </a:r>
          </a:p>
          <a:p>
            <a:pPr algn="just">
              <a:lnSpc>
                <a:spcPct val="150000"/>
              </a:lnSpc>
            </a:pPr>
            <a:r>
              <a:rPr lang="en-US" sz="1200" dirty="0"/>
              <a:t>The sorted results are then written to the </a:t>
            </a:r>
            <a:r>
              <a:rPr lang="en-US" sz="1200" b="1" dirty="0"/>
              <a:t>Candidate Results</a:t>
            </a:r>
            <a:r>
              <a:rPr lang="en-US" sz="1200" dirty="0"/>
              <a:t> worksheet starting from cell </a:t>
            </a:r>
            <a:r>
              <a:rPr lang="en-US" sz="1200" b="1" dirty="0"/>
              <a:t>A1</a:t>
            </a:r>
            <a:r>
              <a:rPr lang="en-US" sz="1200" dirty="0"/>
              <a:t>, including the column headings. Finally, the robot records a message confirming that the Excel report was created successfully.</a:t>
            </a:r>
          </a:p>
        </p:txBody>
      </p:sp>
      <p:sp>
        <p:nvSpPr>
          <p:cNvPr id="8" name="AutoShape 2">
            <a:extLst>
              <a:ext uri="{FF2B5EF4-FFF2-40B4-BE49-F238E27FC236}">
                <a16:creationId xmlns:a16="http://schemas.microsoft.com/office/drawing/2014/main" id="{2F63EE53-22CA-ECD4-882E-9E663E3DD2B7}"/>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922ADF69-BDE6-D37D-35C3-00522D6E0C4F}"/>
              </a:ext>
            </a:extLst>
          </p:cNvPr>
          <p:cNvPicPr>
            <a:picLocks noChangeAspect="1"/>
          </p:cNvPicPr>
          <p:nvPr/>
        </p:nvPicPr>
        <p:blipFill>
          <a:blip r:embed="rId3"/>
          <a:stretch>
            <a:fillRect/>
          </a:stretch>
        </p:blipFill>
        <p:spPr>
          <a:xfrm>
            <a:off x="3909544" y="944248"/>
            <a:ext cx="7309838" cy="2282422"/>
          </a:xfrm>
          <a:prstGeom prst="rect">
            <a:avLst/>
          </a:prstGeom>
        </p:spPr>
      </p:pic>
      <p:sp>
        <p:nvSpPr>
          <p:cNvPr id="15" name="AutoShape 2">
            <a:extLst>
              <a:ext uri="{FF2B5EF4-FFF2-40B4-BE49-F238E27FC236}">
                <a16:creationId xmlns:a16="http://schemas.microsoft.com/office/drawing/2014/main" id="{73455B95-FE81-24F9-9393-C6C9F69EDC07}"/>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7" name="Picture 16">
            <a:extLst>
              <a:ext uri="{FF2B5EF4-FFF2-40B4-BE49-F238E27FC236}">
                <a16:creationId xmlns:a16="http://schemas.microsoft.com/office/drawing/2014/main" id="{554C0943-3B23-5B4C-FE6A-5CC443055949}"/>
              </a:ext>
            </a:extLst>
          </p:cNvPr>
          <p:cNvPicPr>
            <a:picLocks noChangeAspect="1"/>
          </p:cNvPicPr>
          <p:nvPr/>
        </p:nvPicPr>
        <p:blipFill rotWithShape="1">
          <a:blip r:embed="rId4"/>
          <a:srcRect l="4717" t="13753" r="10705" b="1212"/>
          <a:stretch/>
        </p:blipFill>
        <p:spPr>
          <a:xfrm>
            <a:off x="139166" y="729300"/>
            <a:ext cx="3664319" cy="6009000"/>
          </a:xfrm>
          <a:prstGeom prst="rect">
            <a:avLst/>
          </a:prstGeom>
        </p:spPr>
      </p:pic>
      <p:pic>
        <p:nvPicPr>
          <p:cNvPr id="20" name="Picture 19">
            <a:extLst>
              <a:ext uri="{FF2B5EF4-FFF2-40B4-BE49-F238E27FC236}">
                <a16:creationId xmlns:a16="http://schemas.microsoft.com/office/drawing/2014/main" id="{EFF0F43D-A63F-C18D-8725-2E87E3AA291E}"/>
              </a:ext>
            </a:extLst>
          </p:cNvPr>
          <p:cNvPicPr>
            <a:picLocks noChangeAspect="1"/>
          </p:cNvPicPr>
          <p:nvPr/>
        </p:nvPicPr>
        <p:blipFill>
          <a:blip r:embed="rId5"/>
          <a:stretch>
            <a:fillRect/>
          </a:stretch>
        </p:blipFill>
        <p:spPr>
          <a:xfrm>
            <a:off x="3909543" y="3439661"/>
            <a:ext cx="3136468" cy="2999830"/>
          </a:xfrm>
          <a:prstGeom prst="rect">
            <a:avLst/>
          </a:prstGeom>
        </p:spPr>
      </p:pic>
    </p:spTree>
    <p:extLst>
      <p:ext uri="{BB962C8B-B14F-4D97-AF65-F5344CB8AC3E}">
        <p14:creationId xmlns:p14="http://schemas.microsoft.com/office/powerpoint/2010/main" val="1849091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85492-FFBB-9FD5-D26A-A696EC619420}"/>
              </a:ext>
            </a:extLst>
          </p:cNvPr>
          <p:cNvSpPr>
            <a:spLocks noGrp="1"/>
          </p:cNvSpPr>
          <p:nvPr>
            <p:ph type="title"/>
          </p:nvPr>
        </p:nvSpPr>
        <p:spPr/>
        <p:txBody>
          <a:bodyPr/>
          <a:lstStyle/>
          <a:p>
            <a:r>
              <a:rPr lang="en-US" dirty="0"/>
              <a:t>YouTube link for demo</a:t>
            </a:r>
            <a:endParaRPr lang="en-SG" dirty="0"/>
          </a:p>
        </p:txBody>
      </p:sp>
      <p:sp>
        <p:nvSpPr>
          <p:cNvPr id="3" name="Content Placeholder 2">
            <a:extLst>
              <a:ext uri="{FF2B5EF4-FFF2-40B4-BE49-F238E27FC236}">
                <a16:creationId xmlns:a16="http://schemas.microsoft.com/office/drawing/2014/main" id="{69544CB8-CB1F-D855-A8CE-8F9AB72229AC}"/>
              </a:ext>
            </a:extLst>
          </p:cNvPr>
          <p:cNvSpPr>
            <a:spLocks noGrp="1"/>
          </p:cNvSpPr>
          <p:nvPr>
            <p:ph idx="1"/>
          </p:nvPr>
        </p:nvSpPr>
        <p:spPr/>
        <p:txBody>
          <a:bodyPr/>
          <a:lstStyle/>
          <a:p>
            <a:r>
              <a:rPr lang="en-SG" dirty="0">
                <a:hlinkClick r:id="rId2"/>
              </a:rPr>
              <a:t>https://youtu.be/KqSb8rVNgWc</a:t>
            </a:r>
            <a:endParaRPr lang="en-SG" dirty="0"/>
          </a:p>
        </p:txBody>
      </p:sp>
    </p:spTree>
    <p:extLst>
      <p:ext uri="{BB962C8B-B14F-4D97-AF65-F5344CB8AC3E}">
        <p14:creationId xmlns:p14="http://schemas.microsoft.com/office/powerpoint/2010/main" val="3686551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6E156-259E-15B7-4BFD-B121D7497845}"/>
              </a:ext>
            </a:extLst>
          </p:cNvPr>
          <p:cNvSpPr>
            <a:spLocks noGrp="1"/>
          </p:cNvSpPr>
          <p:nvPr>
            <p:ph type="title"/>
          </p:nvPr>
        </p:nvSpPr>
        <p:spPr/>
        <p:txBody>
          <a:bodyPr/>
          <a:lstStyle/>
          <a:p>
            <a:r>
              <a:rPr lang="en-US" dirty="0"/>
              <a:t>References</a:t>
            </a:r>
            <a:endParaRPr lang="en-SG" dirty="0"/>
          </a:p>
        </p:txBody>
      </p:sp>
      <p:sp>
        <p:nvSpPr>
          <p:cNvPr id="3" name="Content Placeholder 2">
            <a:extLst>
              <a:ext uri="{FF2B5EF4-FFF2-40B4-BE49-F238E27FC236}">
                <a16:creationId xmlns:a16="http://schemas.microsoft.com/office/drawing/2014/main" id="{CBD77BE7-FDBA-FA3A-2681-A04832EA2588}"/>
              </a:ext>
            </a:extLst>
          </p:cNvPr>
          <p:cNvSpPr>
            <a:spLocks noGrp="1"/>
          </p:cNvSpPr>
          <p:nvPr>
            <p:ph idx="1"/>
          </p:nvPr>
        </p:nvSpPr>
        <p:spPr>
          <a:xfrm>
            <a:off x="838200" y="1371599"/>
            <a:ext cx="10515600" cy="4805363"/>
          </a:xfrm>
        </p:spPr>
        <p:txBody>
          <a:bodyPr>
            <a:normAutofit/>
          </a:bodyPr>
          <a:lstStyle/>
          <a:p>
            <a:r>
              <a:rPr lang="en-SG" sz="2000" dirty="0">
                <a:hlinkClick r:id="rId2"/>
              </a:rPr>
              <a:t>https://docs.uipath.com/activities/other/latest/productivity/gsuite-get-mail-messages</a:t>
            </a:r>
            <a:endParaRPr lang="en-SG" sz="2000" dirty="0"/>
          </a:p>
          <a:p>
            <a:r>
              <a:rPr lang="en-SG" sz="2000" dirty="0">
                <a:hlinkClick r:id="rId3"/>
              </a:rPr>
              <a:t>https://docs.uipath.com/activities/other/latest/document-understanding/read-pdf-text</a:t>
            </a:r>
            <a:endParaRPr lang="en-SG" sz="2000" dirty="0"/>
          </a:p>
          <a:p>
            <a:r>
              <a:rPr lang="en-SG" sz="2000" dirty="0">
                <a:hlinkClick r:id="rId4"/>
              </a:rPr>
              <a:t>https://docs.uipath.com/activities/other/latest/document-understanding/read-pdf-with-ocr\</a:t>
            </a:r>
            <a:endParaRPr lang="en-SG" sz="2000" dirty="0"/>
          </a:p>
          <a:p>
            <a:r>
              <a:rPr lang="en-SG" sz="2000" dirty="0">
                <a:hlinkClick r:id="rId5"/>
              </a:rPr>
              <a:t>https://docs.uipath.com/activities/other/latest/workflow/invoke-power-shell</a:t>
            </a:r>
            <a:endParaRPr lang="en-SG" sz="2000" dirty="0"/>
          </a:p>
          <a:p>
            <a:r>
              <a:rPr lang="en-SG" sz="2000" dirty="0">
                <a:hlinkClick r:id="rId6"/>
              </a:rPr>
              <a:t>https://docs.uipath.com/activities/other/latest/developer/about-the-database-activities-pack</a:t>
            </a:r>
            <a:endParaRPr lang="en-SG" sz="2000" dirty="0"/>
          </a:p>
          <a:p>
            <a:r>
              <a:rPr lang="en-SG" sz="2000" dirty="0">
                <a:hlinkClick r:id="rId7"/>
              </a:rPr>
              <a:t>https://docs.uipath.com/activities/other/latest/workflow/try-catch</a:t>
            </a:r>
            <a:endParaRPr lang="en-SG" sz="2000" dirty="0"/>
          </a:p>
          <a:p>
            <a:r>
              <a:rPr lang="en-SG" sz="2000" dirty="0">
                <a:hlinkClick r:id="rId8"/>
              </a:rPr>
              <a:t>https://docs.uipath.com/activities/other/latest/productivity/about-the-excel-activities-pack</a:t>
            </a:r>
            <a:endParaRPr lang="en-SG" sz="2000" dirty="0"/>
          </a:p>
          <a:p>
            <a:r>
              <a:rPr lang="en-SG" sz="2000" dirty="0">
                <a:hlinkClick r:id="rId9"/>
              </a:rPr>
              <a:t>https://docs.uipath.com/activities/other/latest/workflow/get-robot-credential</a:t>
            </a:r>
            <a:endParaRPr lang="en-SG" sz="2000" dirty="0"/>
          </a:p>
        </p:txBody>
      </p:sp>
    </p:spTree>
    <p:extLst>
      <p:ext uri="{BB962C8B-B14F-4D97-AF65-F5344CB8AC3E}">
        <p14:creationId xmlns:p14="http://schemas.microsoft.com/office/powerpoint/2010/main" val="2745718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4AC6A7D617B1142B7A64829AE762BF8" ma:contentTypeVersion="18" ma:contentTypeDescription="Create a new document." ma:contentTypeScope="" ma:versionID="26ce053046391cec0b5ef9d54514298d">
  <xsd:schema xmlns:xsd="http://www.w3.org/2001/XMLSchema" xmlns:xs="http://www.w3.org/2001/XMLSchema" xmlns:p="http://schemas.microsoft.com/office/2006/metadata/properties" xmlns:ns2="aa205407-e844-44f4-a704-524443cf3599" xmlns:ns3="0121faca-6edc-4c38-a0c5-20e2ba8c7570" targetNamespace="http://schemas.microsoft.com/office/2006/metadata/properties" ma:root="true" ma:fieldsID="9669ddbb5b69187b6ba0b09ea578fc7b" ns2:_="" ns3:_="">
    <xsd:import namespace="aa205407-e844-44f4-a704-524443cf3599"/>
    <xsd:import namespace="0121faca-6edc-4c38-a0c5-20e2ba8c757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205407-e844-44f4-a704-524443cf3599" elementFormDefault="qualified">
    <xsd:import namespace="http://schemas.microsoft.com/office/2006/documentManagement/types"/>
    <xsd:import namespace="http://schemas.microsoft.com/office/infopath/2007/PartnerControls"/>
    <xsd:element name="SharedWithUsers" ma:index="4"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c87a7b3-0ed2-499c-bc30-4d2170d1b8f1}" ma:internalName="TaxCatchAll" ma:showField="CatchAllData" ma:web="aa205407-e844-44f4-a704-524443cf359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121faca-6edc-4c38-a0c5-20e2ba8c757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description="" ma:hidden="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45bf55a-4f35-4525-96d9-1748649c08e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aa205407-e844-44f4-a704-524443cf3599" xsi:nil="true"/>
    <lcf76f155ced4ddcb4097134ff3c332f xmlns="0121faca-6edc-4c38-a0c5-20e2ba8c757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3FA54BC-A425-4AFB-917C-42E4DA63F543}">
  <ds:schemaRefs>
    <ds:schemaRef ds:uri="http://schemas.microsoft.com/sharepoint/v3/contenttype/forms"/>
  </ds:schemaRefs>
</ds:datastoreItem>
</file>

<file path=customXml/itemProps2.xml><?xml version="1.0" encoding="utf-8"?>
<ds:datastoreItem xmlns:ds="http://schemas.openxmlformats.org/officeDocument/2006/customXml" ds:itemID="{ABA5DBF0-A091-4C36-B504-6DA5585D8B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205407-e844-44f4-a704-524443cf3599"/>
    <ds:schemaRef ds:uri="0121faca-6edc-4c38-a0c5-20e2ba8c75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B960DE4-3A8D-4B07-BFA1-8D519768540D}">
  <ds:schemaRefs>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0121faca-6edc-4c38-a0c5-20e2ba8c7570"/>
    <ds:schemaRef ds:uri="http://purl.org/dc/terms/"/>
    <ds:schemaRef ds:uri="http://purl.org/dc/dcmitype/"/>
    <ds:schemaRef ds:uri="http://schemas.openxmlformats.org/package/2006/metadata/core-properties"/>
    <ds:schemaRef ds:uri="aa205407-e844-44f4-a704-524443cf3599"/>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1631</TotalTime>
  <Words>1985</Words>
  <Application>Microsoft Office PowerPoint</Application>
  <PresentationFormat>Widescreen</PresentationFormat>
  <Paragraphs>139</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Project Report template</vt:lpstr>
      <vt:lpstr>Problem statement</vt:lpstr>
      <vt:lpstr>PowerPoint Presentation</vt:lpstr>
      <vt:lpstr>Packages (Project Dependencies) used</vt:lpstr>
      <vt:lpstr>Step 1: Collecting applications from Gmail</vt:lpstr>
      <vt:lpstr>Step 2 : Reading, extracting and validating résumés</vt:lpstr>
      <vt:lpstr>Step 3 : Scoring candidates with Python</vt:lpstr>
      <vt:lpstr>Step 4 : Storing and routing applications</vt:lpstr>
      <vt:lpstr>Step 5 : Creating the ranked Excel report</vt:lpstr>
      <vt:lpstr>YouTube link for demo</vt:lpstr>
      <vt:lpstr>References</vt:lpstr>
    </vt:vector>
  </TitlesOfParts>
  <Company>Temasek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RPA Project Report</dc:title>
  <dc:creator>Maheswari RAMASAMY SAKTHIVELU (TP)</dc:creator>
  <cp:lastModifiedBy>KHIN PYAESONE WIN</cp:lastModifiedBy>
  <cp:revision>11</cp:revision>
  <dcterms:created xsi:type="dcterms:W3CDTF">2022-10-07T05:57:08Z</dcterms:created>
  <dcterms:modified xsi:type="dcterms:W3CDTF">2026-08-19T15:13:19Z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3b68b73-d603-4e7f-85b0-08f331d65276_Enabled">
    <vt:lpwstr>true</vt:lpwstr>
  </property>
  <property fmtid="{D5CDD505-2E9C-101B-9397-08002B2CF9AE}" pid="3" name="MSIP_Label_23b68b73-d603-4e7f-85b0-08f331d65276_SetDate">
    <vt:lpwstr>2022-10-07T06:08:10Z</vt:lpwstr>
  </property>
  <property fmtid="{D5CDD505-2E9C-101B-9397-08002B2CF9AE}" pid="4" name="MSIP_Label_23b68b73-d603-4e7f-85b0-08f331d65276_Method">
    <vt:lpwstr>Privileged</vt:lpwstr>
  </property>
  <property fmtid="{D5CDD505-2E9C-101B-9397-08002B2CF9AE}" pid="5" name="MSIP_Label_23b68b73-d603-4e7f-85b0-08f331d65276_Name">
    <vt:lpwstr>Sensitive Normal</vt:lpwstr>
  </property>
  <property fmtid="{D5CDD505-2E9C-101B-9397-08002B2CF9AE}" pid="6" name="MSIP_Label_23b68b73-d603-4e7f-85b0-08f331d65276_SiteId">
    <vt:lpwstr>25a99bf0-8e72-472a-ae50-adfbdf0df6f1</vt:lpwstr>
  </property>
  <property fmtid="{D5CDD505-2E9C-101B-9397-08002B2CF9AE}" pid="7" name="MSIP_Label_23b68b73-d603-4e7f-85b0-08f331d65276_ActionId">
    <vt:lpwstr>87892bde-6901-46c3-93b2-7ba3f8afb66d</vt:lpwstr>
  </property>
  <property fmtid="{D5CDD505-2E9C-101B-9397-08002B2CF9AE}" pid="8" name="MSIP_Label_23b68b73-d603-4e7f-85b0-08f331d65276_ContentBits">
    <vt:lpwstr>0</vt:lpwstr>
  </property>
  <property fmtid="{D5CDD505-2E9C-101B-9397-08002B2CF9AE}" pid="9" name="ContentTypeId">
    <vt:lpwstr>0x01010024AC6A7D617B1142B7A64829AE762BF8</vt:lpwstr>
  </property>
  <property fmtid="{D5CDD505-2E9C-101B-9397-08002B2CF9AE}" pid="10" name="MediaServiceImageTags">
    <vt:lpwstr/>
  </property>
</Properties>
</file>